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30 seconds</a:t>
            </a:r>
          </a:p>
          <a:p/>
          <a:p>
            <a:r>
              <a:t>TALKING POINTS:</a:t>
            </a:r>
          </a:p>
          <a:p>
            <a:r>
              <a:t>- Welcome to Day 7! Today you become the PM</a:t>
            </a:r>
          </a:p>
          <a:p>
            <a:r>
              <a:t>- You'll make hard decisions: what ships, what doesn't, how to say "no"</a:t>
            </a:r>
          </a:p>
          <a:p>
            <a:r>
              <a:t>- This tests decision-making under constraints — a critical PM skill</a:t>
            </a:r>
          </a:p>
          <a:p/>
          <a:p>
            <a:r>
              <a:t>TRANSITIONS:</a:t>
            </a:r>
          </a:p>
          <a:p>
            <a:r>
              <a:t>- "Standup."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15 minutes</a:t>
            </a:r>
          </a:p>
          <a:p/>
          <a:p>
            <a:r>
              <a:t>TALKING POINTS:</a:t>
            </a:r>
          </a:p>
          <a:p>
            <a:r>
              <a:t>- Standup</a:t>
            </a:r>
          </a:p>
          <a:p>
            <a:r>
              <a:t>- (Listen for connections between QA and PM — both require systematic thinking)</a:t>
            </a:r>
          </a:p>
          <a:p/>
          <a:p>
            <a:r>
              <a:t>EVALUATION CUES:</a:t>
            </a:r>
          </a:p>
          <a:p>
            <a:r>
              <a:t>- Who mentions trade-offs from testing?</a:t>
            </a:r>
          </a:p>
          <a:p/>
          <a:p>
            <a:r>
              <a:t>TRANSITIONS:</a:t>
            </a:r>
          </a:p>
          <a:p>
            <a:r>
              <a:t>- "Agenda."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 minutes</a:t>
            </a:r>
          </a:p>
          <a:p/>
          <a:p>
            <a:r>
              <a:t>TALKING POINTS:</a:t>
            </a:r>
          </a:p>
          <a:p>
            <a:r>
              <a:t>- Morning: Learn estimation and prioritization frameworks</a:t>
            </a:r>
          </a:p>
          <a:p>
            <a:r>
              <a:t>- Afternoon: Apply under pressure — you're the PM, client wants impossible timeline</a:t>
            </a:r>
          </a:p>
          <a:p>
            <a:r>
              <a:t>- You'll present your decisions to us (playing demanding clients)</a:t>
            </a:r>
          </a:p>
          <a:p>
            <a:r>
              <a:t>- Assessment focus: Process &amp; Decision Making — can you make tough calls and defend them?</a:t>
            </a:r>
          </a:p>
          <a:p/>
          <a:p>
            <a:r>
              <a:t>TRANSITIONS:</a:t>
            </a:r>
          </a:p>
          <a:p>
            <a:r>
              <a:t>- "Learning objectives."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 minutes</a:t>
            </a:r>
          </a:p>
          <a:p/>
          <a:p>
            <a:r>
              <a:t>TALKING POINTS:</a:t>
            </a:r>
          </a:p>
          <a:p>
            <a:r>
              <a:t>- Five PM-focused objectives</a:t>
            </a:r>
          </a:p>
          <a:p>
            <a:r>
              <a:t>- Estimation: T-shirt sizing (S/M/L/XL) and story points</a:t>
            </a:r>
          </a:p>
          <a:p>
            <a:r>
              <a:t>- Prioritization: RICE framework (Reach, Impact, Confidence, Effort)</a:t>
            </a:r>
          </a:p>
          <a:p>
            <a:r>
              <a:t>- Delivery planning: Realistic, not fantasy timelines</a:t>
            </a:r>
          </a:p>
          <a:p>
            <a:r>
              <a:t>- Defending decisions: Clients will push back — can you hold your ground?</a:t>
            </a:r>
          </a:p>
          <a:p>
            <a:r>
              <a:t>- Saying no: Hardest PM skill — graceful scope management</a:t>
            </a:r>
          </a:p>
          <a:p/>
          <a:p>
            <a:r>
              <a:t>TRANSITIONS:</a:t>
            </a:r>
          </a:p>
          <a:p>
            <a:r>
              <a:t>- "Assessment transparency."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 minutes</a:t>
            </a:r>
          </a:p>
          <a:p/>
          <a:p>
            <a:r>
              <a:t>TALKING POINTS:</a:t>
            </a:r>
          </a:p>
          <a:p>
            <a:r>
              <a:t>- Primary dimension today: Process &amp; Decision Making</a:t>
            </a:r>
          </a:p>
          <a:p>
            <a:r>
              <a:t>- Afternoon presentations are MAJOR signal — we'll play demanding clients</a:t>
            </a:r>
          </a:p>
          <a:p>
            <a:r>
              <a:t>- Good looks like: Realistic planning. "We can do 3 features in 2 weeks, not 5." That's honesty</a:t>
            </a:r>
          </a:p>
          <a:p>
            <a:r>
              <a:t>- Clear reasoning. "I prioritized Feature A over Feature B because: (business impact, risk, dependencies)"</a:t>
            </a:r>
          </a:p>
          <a:p>
            <a:r>
              <a:t>- Holding ground. When we push back ("Can't you just work weekends?"), can you say no professionally?</a:t>
            </a:r>
          </a:p>
          <a:p>
            <a:r>
              <a:t>- Graceful "no": "I understand this is important, AND here's what's possible given constraints"</a:t>
            </a:r>
          </a:p>
          <a:p>
            <a:r>
              <a:t>- We're NOT expecting perfect estimates. Estimation is hard. What matters: Did you use a systematic approach?</a:t>
            </a:r>
          </a:p>
          <a:p>
            <a:r>
              <a:t>- Bad PM always says yes, delivers nothing. Good PM says no when needed, delivers quality</a:t>
            </a:r>
          </a:p>
          <a:p/>
          <a:p>
            <a:r>
              <a:t>FACILITATION TIPS:</a:t>
            </a:r>
          </a:p>
          <a:p>
            <a:r>
              <a:t>- Set expectations: "We WILL pressure you this afternoon. That's the test"</a:t>
            </a:r>
          </a:p>
          <a:p/>
          <a:p>
            <a:r>
              <a:t>TRANSITIONS:</a:t>
            </a:r>
          </a:p>
          <a:p>
            <a:r>
              <a:t>- "PM essentials."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 minutes</a:t>
            </a:r>
          </a:p>
          <a:p/>
          <a:p>
            <a:r>
              <a:t>TALKING POINTS:</a:t>
            </a:r>
          </a:p>
          <a:p>
            <a:r>
              <a:t>- Estimation is HARD. Even senior engineers get it wrong</a:t>
            </a:r>
          </a:p>
          <a:p>
            <a:r>
              <a:t>- Three approaches (show slide)</a:t>
            </a:r>
          </a:p>
          <a:p>
            <a:r>
              <a:t>- T-shirt sizing: Simplest. "This feature is Medium compared to that Small feature"</a:t>
            </a:r>
          </a:p>
          <a:p>
            <a:r>
              <a:t>- Example: Login page (S), Dashboard (M), Analytics (L), Full e-commerce (XL)</a:t>
            </a:r>
          </a:p>
          <a:p>
            <a:r>
              <a:t>- Why it works: Relative comparison is easier than absolute estimation</a:t>
            </a:r>
          </a:p>
          <a:p>
            <a:r>
              <a:t>- Story points: More granular. Fibonacci sequence (1, 2, 3, 5, 8, 13...)</a:t>
            </a:r>
          </a:p>
          <a:p>
            <a:r>
              <a:t>- Why Fibonacci? Gap increases as uncertainty increases. 13-point story is WAY more uncertain than 8-point</a:t>
            </a:r>
          </a:p>
          <a:p>
            <a:r>
              <a:t>- Story points combine complexity, risk, and effort (not just time)</a:t>
            </a:r>
          </a:p>
          <a:p>
            <a:r>
              <a:t>- Time-based: "This is 2 days of work." Dangerous because:</a:t>
            </a:r>
          </a:p>
          <a:p>
            <a:r>
              <a:t>  - Assumes no blockers</a:t>
            </a:r>
          </a:p>
          <a:p>
            <a:r>
              <a:t>  - Assumes you know the problem fully</a:t>
            </a:r>
          </a:p>
          <a:p>
            <a:r>
              <a:t>  - Doesn't account for unknowns</a:t>
            </a:r>
          </a:p>
          <a:p>
            <a:r>
              <a:t>- Use time-based only when forced to by client</a:t>
            </a:r>
          </a:p>
          <a:p>
            <a:r>
              <a:t>- IOanyT best practice: Start with T-shirt to get rough sizing. Refine to story points. Avoid committing to hours until late</a:t>
            </a:r>
          </a:p>
          <a:p>
            <a:r>
              <a:t>- AI can help estimate, but YOU apply judgment: "Claude says 3 points, but our codebase is legacy, so actually 5 points"</a:t>
            </a:r>
          </a:p>
          <a:p/>
          <a:p>
            <a:r>
              <a:t>FACILITATION TIPS:</a:t>
            </a:r>
          </a:p>
          <a:p>
            <a:r>
              <a:t>- Poll: "Who's estimated software before?" (Invite 1-2 to share war stories of missed estimates)</a:t>
            </a:r>
          </a:p>
          <a:p/>
          <a:p>
            <a:r>
              <a:t>EVALUATION CUES:</a:t>
            </a:r>
          </a:p>
          <a:p>
            <a:r>
              <a:t>- Who asks "How do you account for unknowns?"</a:t>
            </a:r>
          </a:p>
          <a:p/>
          <a:p>
            <a:r>
              <a:t>TRANSITIONS:</a:t>
            </a:r>
          </a:p>
          <a:p>
            <a:r>
              <a:t>- "Estimation is input. Prioritization is output."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12 minutes</a:t>
            </a:r>
          </a:p>
          <a:p/>
          <a:p>
            <a:r>
              <a:t>TALKING POINTS:</a:t>
            </a:r>
          </a:p>
          <a:p>
            <a:r>
              <a:t>- Prioritization: You have 10 features, time for 3. How do you choose?</a:t>
            </a:r>
          </a:p>
          <a:p>
            <a:r>
              <a:t>- RICE framework (IOanyT standard)</a:t>
            </a:r>
          </a:p>
          <a:p>
            <a:r>
              <a:t>- Reach: How many users? 100? 10,000? All users?</a:t>
            </a:r>
          </a:p>
          <a:p>
            <a:r>
              <a:t>- Impact: Per user, how much impact? Massive (3x), High (2x), Medium (1x), Low (0.5x), Minimal (0.25x)</a:t>
            </a:r>
          </a:p>
          <a:p>
            <a:r>
              <a:t>- Confidence: How confident in your estimates? 100% (we've built this before), 80% (pretty sure), 50% (guessing)</a:t>
            </a:r>
          </a:p>
          <a:p>
            <a:r>
              <a:t>- Effort: Person-months. 1 dev-month? 6 dev-months?</a:t>
            </a:r>
          </a:p>
          <a:p>
            <a:r>
              <a:t>- Formula: (Reach × Impact × Confidence) / Effort</a:t>
            </a:r>
          </a:p>
          <a:p>
            <a:r>
              <a:t>- Higher score = higher priority</a:t>
            </a:r>
          </a:p>
          <a:p>
            <a:r>
              <a:t>- Example (walk through slide): Feature A scores 800, Feature B scores 750. Feature A wins</a:t>
            </a:r>
          </a:p>
          <a:p>
            <a:r>
              <a:t>- Why this works: Forces you to think about value (reach × impact) vs cost (effort). Confidence adjusts for uncertainty</a:t>
            </a:r>
          </a:p>
          <a:p>
            <a:r>
              <a:t>- Alternative: MoSCoW (Must have, Should have, Could have, Won't have). Simpler, less quantitative</a:t>
            </a:r>
          </a:p>
          <a:p>
            <a:r>
              <a:t>- When to use MoSCoW: Early stages, stakeholder alignment</a:t>
            </a:r>
          </a:p>
          <a:p>
            <a:r>
              <a:t>- When to use RICE: Detailed planning, multiple competing features</a:t>
            </a:r>
          </a:p>
          <a:p>
            <a:r>
              <a:t>- AI can help calculate RICE, but YOU provide the numbers (reach, impact, confidence, effort)</a:t>
            </a:r>
          </a:p>
          <a:p/>
          <a:p>
            <a:r>
              <a:t>FACILITATION TIPS:</a:t>
            </a:r>
          </a:p>
          <a:p>
            <a:r>
              <a:t>- Walk through RICE calculation on whiteboard with different examples</a:t>
            </a:r>
          </a:p>
          <a:p/>
          <a:p>
            <a:r>
              <a:t>EVALUATION CUES:</a:t>
            </a:r>
          </a:p>
          <a:p>
            <a:r>
              <a:t>- Who asks "What if confidence is 0%?" (Answer: Don't build it, or spike first)</a:t>
            </a:r>
          </a:p>
          <a:p/>
          <a:p>
            <a:r>
              <a:t>TRANSITIONS:</a:t>
            </a:r>
          </a:p>
          <a:p>
            <a:r>
              <a:t>- "Let me show you RICE in action."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30 minutes (10 min setup + 20 min demo)</a:t>
            </a:r>
          </a:p>
          <a:p/>
          <a:p>
            <a:r>
              <a:t>TALKING POINTS:</a:t>
            </a:r>
          </a:p>
          <a:p>
            <a:r>
              <a:t>- Live demo: RICE scoring on 5 competing features</a:t>
            </a:r>
          </a:p>
          <a:p>
            <a:r>
              <a:t>- Scenario (read from slide): Client wants all, you have capacity for 2</a:t>
            </a:r>
          </a:p>
          <a:p>
            <a:r>
              <a:t>- Let's estimate each feature</a:t>
            </a:r>
          </a:p>
          <a:p>
            <a:r>
              <a:t>- Feature 1: User authentication</a:t>
            </a:r>
          </a:p>
          <a:p>
            <a:r>
              <a:t>  - Reach: 100% of users (1000)</a:t>
            </a:r>
          </a:p>
          <a:p>
            <a:r>
              <a:t>  - Impact: 3x (must-have for app to work)</a:t>
            </a:r>
          </a:p>
          <a:p>
            <a:r>
              <a:t>  - Confidence: 80% (we've built this before)</a:t>
            </a:r>
          </a:p>
          <a:p>
            <a:r>
              <a:t>  - Effort: 1 person-month</a:t>
            </a:r>
          </a:p>
          <a:p>
            <a:r>
              <a:t>  - RICE: (1000 × 3 × 0.8) / 1 = 2400</a:t>
            </a:r>
          </a:p>
          <a:p>
            <a:r>
              <a:t>- Feature 2: Search</a:t>
            </a:r>
          </a:p>
          <a:p>
            <a:r>
              <a:t>  - Reach: 80% of users (800)</a:t>
            </a:r>
          </a:p>
          <a:p>
            <a:r>
              <a:t>  - Impact: 2x (high value)</a:t>
            </a:r>
          </a:p>
          <a:p>
            <a:r>
              <a:t>  - Confidence: 60% (complex feature, unknowns)</a:t>
            </a:r>
          </a:p>
          <a:p>
            <a:r>
              <a:t>  - Effort: 2 person-months</a:t>
            </a:r>
          </a:p>
          <a:p>
            <a:r>
              <a:t>  - RICE: (800 × 2 × 0.6) / 2 = 480</a:t>
            </a:r>
          </a:p>
          <a:p>
            <a:r>
              <a:t>- (Continue through all 5 features, calculate RICE for each)</a:t>
            </a:r>
          </a:p>
          <a:p>
            <a:r>
              <a:t>- Final ranking: Auth (2400), Notifications (800), Search (480), Analytics (300), Mobile (200)</a:t>
            </a:r>
          </a:p>
          <a:p>
            <a:r>
              <a:t>- Decision: Build Auth + Notifications (top 2 by RICE)</a:t>
            </a:r>
          </a:p>
          <a:p>
            <a:r>
              <a:t>- Trade-offs: Why not Search (lower RICE, higher effort, more uncertainty). Why not Mobile (lowest score, huge effort)</a:t>
            </a:r>
          </a:p>
          <a:p>
            <a:r>
              <a:t>- If client pushes back: "Mobile is strategic!" → Response: "I understand. Given current capacity, would you prefer Mobile over Auth? That means no login for 2 months. Is that acceptable?"</a:t>
            </a:r>
          </a:p>
          <a:p>
            <a:r>
              <a:t>- This is PM work: Data-driven decisions + communication</a:t>
            </a:r>
          </a:p>
          <a:p/>
          <a:p>
            <a:r>
              <a:t>FACILITATION TIPS:</a:t>
            </a:r>
          </a:p>
          <a:p>
            <a:r>
              <a:t>- Show the calculations visibly (spreadsheet or whiteboard)</a:t>
            </a:r>
          </a:p>
          <a:p>
            <a:r>
              <a:t>- Demonstrate the client pushback conversation</a:t>
            </a:r>
          </a:p>
          <a:p/>
          <a:p>
            <a:r>
              <a:t>EVALUATION CUES:</a:t>
            </a:r>
          </a:p>
          <a:p>
            <a:r>
              <a:t>- Who's taking notes on RICE numbers?</a:t>
            </a:r>
          </a:p>
          <a:p/>
          <a:p>
            <a:r>
              <a:t>TRANSITIONS:</a:t>
            </a:r>
          </a:p>
          <a:p>
            <a:r>
              <a:t>- "Your turn to prioritize."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 minutes setup</a:t>
            </a:r>
          </a:p>
          <a:p/>
          <a:p>
            <a:r>
              <a:t>TALKING POINTS:</a:t>
            </a:r>
          </a:p>
          <a:p>
            <a:r>
              <a:t>- Practice prioritization</a:t>
            </a:r>
          </a:p>
          <a:p>
            <a:r>
              <a:t>- You have 15 features (in /day-7/backlog.md)</a:t>
            </a:r>
          </a:p>
          <a:p>
            <a:r>
              <a:t>- 2-week sprint, 2 developers (assume ~4 person-weeks capacity)</a:t>
            </a:r>
          </a:p>
          <a:p>
            <a:r>
              <a:t>- Your job: Estimate RICE for each, prioritize, decide what fits</a:t>
            </a:r>
          </a:p>
          <a:p>
            <a:r>
              <a:t>- Step 1: For each feature, estimate Reach, Impact, Confidence, Effort</a:t>
            </a:r>
          </a:p>
          <a:p>
            <a:r>
              <a:t>- Step 2: Calculate RICE (use spreadsheet template, or ask Claude to calculate)</a:t>
            </a:r>
          </a:p>
          <a:p>
            <a:r>
              <a:t>- Step 3: Rank by RICE score</a:t>
            </a:r>
          </a:p>
          <a:p>
            <a:r>
              <a:t>- Step 4: Decide what fits in sprint capacity</a:t>
            </a:r>
          </a:p>
          <a:p>
            <a:r>
              <a:t>- Step 5: Document in PRIORITIZATION.md: What's in? What's out? Why?</a:t>
            </a:r>
          </a:p>
          <a:p>
            <a:r>
              <a:t>- Deliverable: Two files (RICE spreadsheet + reasoning doc)</a:t>
            </a:r>
          </a:p>
          <a:p>
            <a:r>
              <a:t>- 60 minutes. Be systematic</a:t>
            </a:r>
          </a:p>
          <a:p/>
          <a:p>
            <a:r>
              <a:t>FACILITATION TIPS:</a:t>
            </a:r>
          </a:p>
          <a:p>
            <a:r>
              <a:t>- Provide spreadsheet template for RICE calculations</a:t>
            </a:r>
          </a:p>
          <a:p>
            <a:r>
              <a:t>- Circulate and observe</a:t>
            </a:r>
          </a:p>
          <a:p/>
          <a:p>
            <a:r>
              <a:t>EVALUATION CUES:</a:t>
            </a:r>
          </a:p>
          <a:p>
            <a:r>
              <a:t>- Who uses RICE systematically vs gut feel?</a:t>
            </a:r>
          </a:p>
          <a:p>
            <a:r>
              <a:t>- Quality of trade-off reasoning</a:t>
            </a:r>
          </a:p>
          <a:p/>
          <a:p>
            <a:r>
              <a:t>TRANSITIONS:</a:t>
            </a:r>
          </a:p>
          <a:p>
            <a:r>
              <a:t>- "60 minutes. Go!"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30 minutes</a:t>
            </a:r>
          </a:p>
          <a:p/>
          <a:p>
            <a:r>
              <a:t>TALKING POINTS:</a:t>
            </a:r>
          </a:p>
          <a:p>
            <a:r>
              <a:t>- Debrief. What did you prioritize?</a:t>
            </a:r>
          </a:p>
          <a:p>
            <a:r>
              <a:t>- (Invite 5-7 candidates to share their top 3)</a:t>
            </a:r>
          </a:p>
          <a:p>
            <a:r>
              <a:t>- Interesting question: Did everyone prioritize the same features?</a:t>
            </a:r>
          </a:p>
          <a:p>
            <a:r>
              <a:t>- If yes: RICE is working (data-driven consensus)</a:t>
            </a:r>
          </a:p>
          <a:p>
            <a:r>
              <a:t>- If no: What drove the differences? (Different estimates? Different interpretations?)</a:t>
            </a:r>
          </a:p>
          <a:p>
            <a:r>
              <a:t>- Trade-offs: What did you CUT? That's the hard part</a:t>
            </a:r>
          </a:p>
          <a:p>
            <a:r>
              <a:t>- Handling uncertainty: If confidence was 20%, what did you do? (Options: Don't build it. Spike to increase confidence. Build anyway but flag risk)</a:t>
            </a:r>
          </a:p>
          <a:p>
            <a:r>
              <a:t>- Show of hands (ask questions from slide)</a:t>
            </a:r>
          </a:p>
          <a:p>
            <a:r>
              <a:t>- If someone prioritized against RICE: "Why did you override the score?" (Sometimes qualitative factors matter — that's judgment)</a:t>
            </a:r>
          </a:p>
          <a:p>
            <a:r>
              <a:t>- Key learning: Framework gives you DATA, YOU make the DECISION</a:t>
            </a:r>
          </a:p>
          <a:p/>
          <a:p>
            <a:r>
              <a:t>FACILITATION TIPS:</a:t>
            </a:r>
          </a:p>
          <a:p>
            <a:r>
              <a:t>- Celebrate different approaches: "Both are valid if reasoning is sound"</a:t>
            </a:r>
          </a:p>
          <a:p/>
          <a:p>
            <a:r>
              <a:t>EVALUATION CUES:</a:t>
            </a:r>
          </a:p>
          <a:p>
            <a:r>
              <a:t>- Quality of reasoning when overriding RICE</a:t>
            </a:r>
          </a:p>
          <a:p/>
          <a:p>
            <a:r>
              <a:t>TRANSITIONS:</a:t>
            </a:r>
          </a:p>
          <a:p>
            <a:r>
              <a:t>- "Lunch break. This afternoon: PM under pressure."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 minutes setup</a:t>
            </a:r>
          </a:p>
          <a:p/>
          <a:p>
            <a:r>
              <a:t>TALKING POINTS:</a:t>
            </a:r>
          </a:p>
          <a:p>
            <a:r>
              <a:t>- This is the afternoon assessment. High pressure, just like real PM work</a:t>
            </a:r>
          </a:p>
          <a:p>
            <a:r>
              <a:t>- Scenario (read from slide): Client wants 5 features, 2 weeks, 2 devs</a:t>
            </a:r>
          </a:p>
          <a:p>
            <a:r>
              <a:t>- The catch: Features total 6 person-weeks. You have 4. Math doesn't work</a:t>
            </a:r>
          </a:p>
          <a:p>
            <a:r>
              <a:t>- This is REALITY. Clients always want more than capacity allows</a:t>
            </a:r>
          </a:p>
          <a:p>
            <a:r>
              <a:t>- Your task (point to slide):</a:t>
            </a:r>
          </a:p>
          <a:p>
            <a:r>
              <a:t>  - Estimate each feature (use Claude to help, but you validate)</a:t>
            </a:r>
          </a:p>
          <a:p>
            <a:r>
              <a:t>  - Use RICE to prioritize</a:t>
            </a:r>
          </a:p>
          <a:p>
            <a:r>
              <a:t>  - Create delivery plan: What's IN (definitely building), What's OUT (definitely not), What's AT RISK (maybe, if time)</a:t>
            </a:r>
          </a:p>
          <a:p>
            <a:r>
              <a:t>  - Prepare 10-minute presentation to the "client" (us, the evaluators)</a:t>
            </a:r>
          </a:p>
          <a:p>
            <a:r>
              <a:t>- You have 120 minutes to prep</a:t>
            </a:r>
          </a:p>
          <a:p>
            <a:r>
              <a:t>- Then, each of you will present (10 min) + face tough Q&amp;A (5 min)</a:t>
            </a:r>
          </a:p>
          <a:p>
            <a:r>
              <a:t>- What we're evaluating:</a:t>
            </a:r>
          </a:p>
          <a:p>
            <a:r>
              <a:t>  - Is your plan REALISTIC? (Not fantasy: "We'll work weekends")</a:t>
            </a:r>
          </a:p>
          <a:p>
            <a:r>
              <a:t>  - Is your reasoning CLEAR? (Why Feature A over Feature B?)</a:t>
            </a:r>
          </a:p>
          <a:p>
            <a:r>
              <a:t>  - Can you DEFEND under pressure? (When we push back, do you cave or hold ground?)</a:t>
            </a:r>
          </a:p>
          <a:p>
            <a:r>
              <a:t>  - Can you say NO gracefully? (We'll ask for all 5 features. Can you say no professionally?)</a:t>
            </a:r>
          </a:p>
          <a:p>
            <a:r>
              <a:t>- Scenario details in /day-7/pm-scenario.md</a:t>
            </a:r>
          </a:p>
          <a:p>
            <a:r>
              <a:t>- Questions before we start?</a:t>
            </a:r>
          </a:p>
          <a:p/>
          <a:p>
            <a:r>
              <a:t>FACILITATION TIPS:</a:t>
            </a:r>
          </a:p>
          <a:p>
            <a:r>
              <a:t>- Provide scenario with 5 features (detailed specs, so they can estimate)</a:t>
            </a:r>
          </a:p>
          <a:p>
            <a:r>
              <a:t>- Set visible 120-minute timer</a:t>
            </a:r>
          </a:p>
          <a:p>
            <a:r>
              <a:t>- Emphasize: "This is realistic. You'll face this at IOanyT"</a:t>
            </a:r>
          </a:p>
          <a:p/>
          <a:p>
            <a:r>
              <a:t>EVALUATION CUES:</a:t>
            </a:r>
          </a:p>
          <a:p>
            <a:r>
              <a:t>- (This is primary assessment)</a:t>
            </a:r>
          </a:p>
          <a:p>
            <a:r>
              <a:t>- Realism of plan</a:t>
            </a:r>
          </a:p>
          <a:p>
            <a:r>
              <a:t>- Clarity of reasoning</a:t>
            </a:r>
          </a:p>
          <a:p>
            <a:r>
              <a:t>- Response to pressure</a:t>
            </a:r>
          </a:p>
          <a:p/>
          <a:p>
            <a:r>
              <a:t>TRANSITIONS:</a:t>
            </a:r>
          </a:p>
          <a:p>
            <a:r>
              <a:t>- "120 minutes prep starts now."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180 minutes total (12 candidates × 15 min = 180 min = 3 hours)</a:t>
            </a:r>
          </a:p>
          <a:p/>
          <a:p>
            <a:r>
              <a:t>TALKING POINTS:</a:t>
            </a:r>
          </a:p>
          <a:p>
            <a:r>
              <a:t>- Presentation time! Each candidate gets 15 minutes (10 present + 5 Q&amp;A)</a:t>
            </a:r>
          </a:p>
          <a:p>
            <a:r>
              <a:t>- We'll go in order (call candidates by name)</a:t>
            </a:r>
          </a:p>
          <a:p>
            <a:r>
              <a:t>- Present your delivery plan: RICE scores, prioritization, what's in/out/at-risk, reasoning</a:t>
            </a:r>
          </a:p>
          <a:p>
            <a:r>
              <a:t>- Then we'll grill you. We're playing demanding clients</a:t>
            </a:r>
          </a:p>
          <a:p>
            <a:r>
              <a:t>- Example questions (show slide): These are REAL questions you'll face at IOanyT</a:t>
            </a:r>
          </a:p>
          <a:p>
            <a:r>
              <a:t>- (After each presentation):</a:t>
            </a:r>
          </a:p>
          <a:p>
            <a:r>
              <a:t>  - "Why did you cut Feature X? Client says it's critical!" (Test: Can they defend decision with data?)</a:t>
            </a:r>
          </a:p>
          <a:p>
            <a:r>
              <a:t>  - "Can't you just add one more developer?" (Test: Do they know adding people slows projects initially?)</a:t>
            </a:r>
          </a:p>
          <a:p>
            <a:r>
              <a:t>  - "What if we pay overtime for weekends?" (Test: Will they cave to unhealthy practices?)</a:t>
            </a:r>
          </a:p>
          <a:p>
            <a:r>
              <a:t>  - "Competitor promised all 5 in 2 weeks." (Test: Can they call out unrealistic promises?)</a:t>
            </a:r>
          </a:p>
          <a:p>
            <a:r>
              <a:t>- What we're looking for:</a:t>
            </a:r>
          </a:p>
          <a:p>
            <a:r>
              <a:t>  - Calm under pressure</a:t>
            </a:r>
          </a:p>
          <a:p>
            <a:r>
              <a:t>  - Data-backed reasoning</a:t>
            </a:r>
          </a:p>
          <a:p>
            <a:r>
              <a:t>  - Professional "no": "I understand this matters, AND here's what's possible given constraints"</a:t>
            </a:r>
          </a:p>
          <a:p>
            <a:r>
              <a:t>  - Not caving: Sticking to realistic plan even when pressured</a:t>
            </a:r>
          </a:p>
          <a:p>
            <a:r>
              <a:t>- (After all presentations): Debrief common patterns</a:t>
            </a:r>
          </a:p>
          <a:p/>
          <a:p>
            <a:r>
              <a:t>FACILITATION TIPS:</a:t>
            </a:r>
          </a:p>
          <a:p>
            <a:r>
              <a:t>- Keep presentations to 10 min (use timer)</a:t>
            </a:r>
          </a:p>
          <a:p>
            <a:r>
              <a:t>- Ask genuinely tough questions (not gotchas, but realistic pressure)</a:t>
            </a:r>
          </a:p>
          <a:p>
            <a:r>
              <a:t>- Vary questions per candidate (don't ask same question to everyone)</a:t>
            </a:r>
          </a:p>
          <a:p>
            <a:r>
              <a:t>- Note who holds ground vs who caves</a:t>
            </a:r>
          </a:p>
          <a:p/>
          <a:p>
            <a:r>
              <a:t>EVALUATION CUES:</a:t>
            </a:r>
          </a:p>
          <a:p>
            <a:r>
              <a:t>- Plan realism (did they over-promise?)</a:t>
            </a:r>
          </a:p>
          <a:p>
            <a:r>
              <a:t>- Reasoning clarity (can they explain trade-offs?)</a:t>
            </a:r>
          </a:p>
          <a:p>
            <a:r>
              <a:t>- Pressure response (do they cave or hold?)</a:t>
            </a:r>
          </a:p>
          <a:p>
            <a:r>
              <a:t>- Graceful "no" (professional boundary-setting)</a:t>
            </a:r>
          </a:p>
          <a:p/>
          <a:p>
            <a:r>
              <a:t>TRANSITIONS:</a:t>
            </a:r>
          </a:p>
          <a:p>
            <a:r>
              <a:t>- "Excellent work under pressure. Resources."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 minute</a:t>
            </a:r>
          </a:p>
          <a:p/>
          <a:p>
            <a:r>
              <a:t>TALKING POINTS:</a:t>
            </a:r>
          </a:p>
          <a:p>
            <a:r>
              <a:t>- Resources in /day-7/</a:t>
            </a:r>
          </a:p>
          <a:p>
            <a:r>
              <a:t>- "Mythical Man-Month" is classic (adding people to late project makes it later)</a:t>
            </a:r>
          </a:p>
          <a:p>
            <a:r>
              <a:t>- RICE template reusable for real projects</a:t>
            </a:r>
          </a:p>
          <a:p/>
          <a:p>
            <a:r>
              <a:t>TRANSITIONS:</a:t>
            </a:r>
          </a:p>
          <a:p>
            <a:r>
              <a:t>- "Reflection."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 minutes</a:t>
            </a:r>
          </a:p>
          <a:p/>
          <a:p>
            <a:r>
              <a:t>TALKING POINTS:</a:t>
            </a:r>
          </a:p>
          <a:p>
            <a:r>
              <a:t>- Day 7 complete! Toughest day yet (pressure presentations)</a:t>
            </a:r>
          </a:p>
          <a:p>
            <a:r>
              <a:t>- You survived demanding clients — that's real PM work</a:t>
            </a:r>
          </a:p>
          <a:p>
            <a:r>
              <a:t>- Reflect (2 min silence)</a:t>
            </a:r>
          </a:p>
          <a:p>
            <a:r>
              <a:t>- Tomorrow: Day 8 is multi-role orchestration. You'll rotate through PM, BA, Eng, QA roles</a:t>
            </a:r>
          </a:p>
          <a:p>
            <a:r>
              <a:t>- Less pressure, more collaboration practice</a:t>
            </a:r>
          </a:p>
          <a:p>
            <a:r>
              <a:t>- Submit DELIVERY-PLAN.md if you haven't</a:t>
            </a:r>
          </a:p>
          <a:p>
            <a:r>
              <a:t>- Well done today!</a:t>
            </a:r>
          </a:p>
          <a:p/>
          <a:p>
            <a:r>
              <a:t>FACILITATION TIPS:</a:t>
            </a:r>
          </a:p>
          <a:p>
            <a:r>
              <a:t>- Acknowledge effort: "That was intense. You handled it well"</a:t>
            </a:r>
          </a:p>
          <a:p/>
          <a:p>
            <a:r>
              <a:t>EVALUATION CUES:</a:t>
            </a:r>
          </a:p>
          <a:p>
            <a:r>
              <a:t>- (Score presentations tonight — realism, reasoning, pressure response)</a:t>
            </a:r>
          </a:p>
          <a:p/>
          <a:p>
            <a:r>
              <a:t>TRANSITIONS:</a:t>
            </a:r>
          </a:p>
          <a:p>
            <a:r>
              <a:t>- "Day 7 done!"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11243E"/>
              </a:gs>
              <a:gs pos="100000">
                <a:srgbClr val="2C528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4864" cy="16459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Day 7: Project Management &amp; Decision Making</a:t>
            </a:r>
          </a:p>
          <a:p>
            <a:pPr>
              <a:spcBef>
                <a:spcPts val="1600"/>
              </a:spcBef>
              <a:defRPr sz="2200" b="0">
                <a:solidFill>
                  <a:srgbClr val="B4C8E1"/>
                </a:solidFill>
              </a:defRPr>
            </a:pPr>
            <a:r>
              <a:t>IOanyT Workshop — Cohort 1</a:t>
            </a:r>
          </a:p>
          <a:p>
            <a:pPr>
              <a:spcBef>
                <a:spcPts val="800"/>
              </a:spcBef>
              <a:defRPr sz="1600" b="0">
                <a:solidFill>
                  <a:srgbClr val="8CA5C8"/>
                </a:solidFill>
              </a:defRPr>
            </a:pPr>
            <a:r>
              <a:t>March 25,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698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82AA"/>
                </a:solidFill>
              </a:defRPr>
            </a:pPr>
            <a:r>
              <a:t>IOanyT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Daily Standup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Daily Standup (9:00-9:15 AM)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Round-robin (2 min each):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What did you learn from QA/bug hunting yesterday?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What are you focusing on today?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Blockers?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Today's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000" dist="15000" dir="27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Morning (9:15 AM - 12:30 PM):</a:t>
            </a:r>
          </a:p>
          <a:p>
            <a:pPr>
              <a:spcBef>
                <a:spcPts val="600"/>
              </a:spcBef>
              <a:defRPr sz="1500" b="0">
                <a:solidFill>
                  <a:srgbClr val="2D3748"/>
                </a:solidFill>
              </a:defRPr>
            </a:pPr>
            <a:r>
              <a:t>  PM Essentials: Estimation &amp; Prioritization (60 min)</a:t>
            </a:r>
          </a:p>
          <a:p>
            <a:pPr>
              <a:spcBef>
                <a:spcPts val="600"/>
              </a:spcBef>
              <a:defRPr sz="1500" b="0">
                <a:solidFill>
                  <a:srgbClr val="2D3748"/>
                </a:solidFill>
              </a:defRPr>
            </a:pPr>
            <a:r>
              <a:t>  Live Demo: RICE Scoring (30 min)</a:t>
            </a:r>
          </a:p>
          <a:p>
            <a:pPr>
              <a:spcBef>
                <a:spcPts val="600"/>
              </a:spcBef>
              <a:defRPr sz="1500" b="0">
                <a:solidFill>
                  <a:srgbClr val="2D3748"/>
                </a:solidFill>
              </a:defRPr>
            </a:pPr>
            <a:r>
              <a:t>  Exercise: Backlog Prioritization (60 min)</a:t>
            </a:r>
          </a:p>
          <a:p>
            <a:pPr>
              <a:spcBef>
                <a:spcPts val="600"/>
              </a:spcBef>
              <a:defRPr sz="1500" b="0">
                <a:solidFill>
                  <a:srgbClr val="2D3748"/>
                </a:solidFill>
              </a:defRPr>
            </a:pPr>
            <a:r>
              <a:t>  Debrief (30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000" dist="15000" dir="27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Afternoon (1:30 PM - 5:15 PM):</a:t>
            </a:r>
          </a:p>
          <a:p>
            <a:pPr>
              <a:spcBef>
                <a:spcPts val="400"/>
              </a:spcBef>
              <a:defRPr sz="1600" b="1">
                <a:solidFill>
                  <a:srgbClr val="1A365D"/>
                </a:solidFill>
              </a:defRPr>
            </a:pPr>
            <a:r>
              <a:t>• **INDIVIDUAL EXERCISE**: PM Under Pressure (120 min)</a:t>
            </a:r>
          </a:p>
          <a:p>
            <a:pPr>
              <a:spcBef>
                <a:spcPts val="600"/>
              </a:spcBef>
              <a:defRPr sz="1500" b="0">
                <a:solidFill>
                  <a:srgbClr val="2D3748"/>
                </a:solidFill>
              </a:defRPr>
            </a:pPr>
            <a:r>
              <a:t>  **INDIVIDUAL PRESENTATIONS** (10 min each + 5 min Q&amp;A)</a:t>
            </a:r>
          </a:p>
          <a:p>
            <a:pPr>
              <a:spcBef>
                <a:spcPts val="600"/>
              </a:spcBef>
              <a:defRPr sz="1500" b="0">
                <a:solidFill>
                  <a:srgbClr val="2D3748"/>
                </a:solidFill>
              </a:defRPr>
            </a:pPr>
            <a:r>
              <a:t>  Reflection (15 min)</a:t>
            </a:r>
          </a:p>
          <a:p>
            <a:pPr>
              <a:spcBef>
                <a:spcPts val="400"/>
              </a:spcBef>
              <a:defRPr sz="1500" b="0">
                <a:solidFill>
                  <a:srgbClr val="2D3748"/>
                </a:solidFill>
              </a:defRPr>
            </a:pPr>
            <a:r>
              <a:t>Focus: Process &amp; Decision Making (PRIMARY DIMENSION)</a:t>
            </a:r>
          </a:p>
          <a:p>
            <a:pPr>
              <a:spcBef>
                <a:spcPts val="400"/>
              </a:spcBef>
              <a:defRPr sz="1600" b="1">
                <a:solidFill>
                  <a:srgbClr val="1A365D"/>
                </a:solidFill>
              </a:defRPr>
            </a:pPr>
            <a:r>
              <a:t>⚠️ Afternoon presentations are SCORED ⚠️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718096"/>
                </a:solidFill>
              </a:defRPr>
            </a:pPr>
            <a:r>
              <a:t>By the end of Day 7, you will: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005840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  <a:effectLst>
            <a:outerShdw blurRad="30000" dist="10000" dir="27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19456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48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8"/>
                </a:solidFill>
              </a:defRPr>
            </a:pPr>
            <a:r>
              <a:t>Estimate features using T-shirt sizing and story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71800"/>
            <a:ext cx="1005840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  <a:effectLst>
            <a:outerShdw blurRad="30000" dist="10000" dir="27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315468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36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08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8"/>
                </a:solidFill>
              </a:defRPr>
            </a:pPr>
            <a:r>
              <a:t>Prioritize a backlog using RICE scoring or MoSCoW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1005840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  <a:effectLst>
            <a:outerShdw blurRad="30000" dist="10000" dir="27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11480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096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069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8"/>
                </a:solidFill>
              </a:defRPr>
            </a:pPr>
            <a:r>
              <a:t>Create a realistic delivery plan under constraints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005840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  <a:effectLst>
            <a:outerShdw blurRad="30000" dist="10000" dir="27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07492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56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8"/>
                </a:solidFill>
              </a:defRPr>
            </a:pPr>
            <a:r>
              <a:t>Defend trade-off decisions under pressure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852160"/>
            <a:ext cx="1005840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  <a:effectLst>
            <a:outerShdw blurRad="30000" dist="10000" dir="27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88720" y="603504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6016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989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8"/>
                </a:solidFill>
              </a:defRPr>
            </a:pPr>
            <a:r>
              <a:t>Say "no" gracefully when scope exceeds capacity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ED8936"/>
              </a:gs>
              <a:gs pos="100000">
                <a:srgbClr val="DD6B2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Assessment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What We're Evaluating Today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Primary Dimension: Process &amp; Decision Making (15% weight)</a:t>
            </a:r>
          </a:p>
          <a:p>
            <a:pPr>
              <a:spcBef>
                <a:spcPts val="1200"/>
              </a:spcBef>
              <a:defRPr sz="1700" b="1">
                <a:solidFill>
                  <a:srgbClr val="ED8936"/>
                </a:solidFill>
              </a:defRPr>
            </a:pPr>
            <a:r>
              <a:t>⚠️ AFTERNOON PRESENTATIONS ARE HEAVILY WEIGHTED ⚠️</a:t>
            </a:r>
          </a:p>
          <a:p>
            <a:pPr>
              <a:spcBef>
                <a:spcPts val="1400"/>
              </a:spcBef>
              <a:defRPr sz="1800" b="1">
                <a:solidFill>
                  <a:srgbClr val="ED8936"/>
                </a:solidFill>
              </a:defRPr>
            </a:pPr>
            <a:r>
              <a:t>What Good Looks Like:</a:t>
            </a:r>
          </a:p>
          <a:p>
            <a:pPr>
              <a:spcBef>
                <a:spcPts val="600"/>
              </a:spcBef>
              <a:defRPr sz="1600" b="0">
                <a:solidFill>
                  <a:srgbClr val="48BB78"/>
                </a:solidFill>
              </a:defRPr>
            </a:pPr>
            <a:r>
              <a:t>  ✓  Realistic planning (not over-promising)</a:t>
            </a:r>
          </a:p>
          <a:p>
            <a:pPr>
              <a:spcBef>
                <a:spcPts val="600"/>
              </a:spcBef>
              <a:defRPr sz="1600" b="0">
                <a:solidFill>
                  <a:srgbClr val="48BB78"/>
                </a:solidFill>
              </a:defRPr>
            </a:pPr>
            <a:r>
              <a:t>  ✓  Clear trade-off reasoning (why X over Y?)</a:t>
            </a:r>
          </a:p>
          <a:p>
            <a:pPr>
              <a:spcBef>
                <a:spcPts val="600"/>
              </a:spcBef>
              <a:defRPr sz="1600" b="0">
                <a:solidFill>
                  <a:srgbClr val="48BB78"/>
                </a:solidFill>
              </a:defRPr>
            </a:pPr>
            <a:r>
              <a:t>  ✓  Holding ground under pressure (not caving to demands)</a:t>
            </a:r>
          </a:p>
          <a:p>
            <a:pPr>
              <a:spcBef>
                <a:spcPts val="600"/>
              </a:spcBef>
              <a:defRPr sz="1600" b="0">
                <a:solidFill>
                  <a:srgbClr val="48BB78"/>
                </a:solidFill>
              </a:defRPr>
            </a:pPr>
            <a:r>
              <a:t>  ✓  Saying "no" gracefully (not just "yes" to everything)</a:t>
            </a:r>
          </a:p>
          <a:p>
            <a:pPr>
              <a:spcBef>
                <a:spcPts val="600"/>
              </a:spcBef>
              <a:defRPr sz="1600" b="0">
                <a:solidFill>
                  <a:srgbClr val="48BB78"/>
                </a:solidFill>
              </a:defRPr>
            </a:pPr>
            <a:r>
              <a:t>  ✓  Systematic approach (using frameworks, not gut feel)</a:t>
            </a:r>
          </a:p>
          <a:p>
            <a:pPr>
              <a:spcBef>
                <a:spcPts val="1400"/>
              </a:spcBef>
              <a:defRPr sz="1800" b="1">
                <a:solidFill>
                  <a:srgbClr val="ED8936"/>
                </a:solidFill>
              </a:defRPr>
            </a:pPr>
            <a:r>
              <a:t>What We're NOT Looking For: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✗ Perfect estimates (estimation is hard, process matters)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✗ Always saying "yes" (pleasing clients ≠ good PM)</a:t>
            </a:r>
          </a:p>
          <a:p>
            <a:pPr>
              <a:spcBef>
                <a:spcPts val="1400"/>
              </a:spcBef>
              <a:defRPr sz="1700" b="1">
                <a:solidFill>
                  <a:srgbClr val="ED8936"/>
                </a:solidFill>
              </a:defRPr>
            </a:pPr>
            <a:r>
              <a:t>Key: Can you make hard decisions and defend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Estimation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How to Estimate (When You Don't Know How Long Things Take)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3 Approaches: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1.  T-SHIRT SIZING (Relative)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S (small), M (medium), L (large), XL (extra-large)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Compare to known features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2.  STORY POINTS (Fibonacci)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1, 2, 3, 5, 8, 13, 21 (bigger = more uncertain)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Relative complexity, not hours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3.  TIME-BASED (Risky)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"This will take 2 days"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Often wrong, but sometimes needed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Best Practice at IOanyT: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Start with T-shirt, refine to story points, avoid time-based until 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Prioritization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How to Decide What to Build First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RICE SCORING (IOanyT Default):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R = REACH (how many users affected?)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I = IMPACT (how much impact per user? 0.25-3x)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C = CONFIDENCE (how confident are we? 0%-100%)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E = EFFORT (how much work? person-months)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RICE Score = (R × I × C) / E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Example: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Feature A: (1000 users × 2x impact × 80% confidence) / 2 months = 800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Feature B: (500 users × 3x impact × 50% confidence) / 1 month = 750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Feature A wins (higher score)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Alternative: MoSCoW (Must, Should, Could, Won't)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 — RICE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Live Demo: Prioritize 5 Features Using RICE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Scenario: Client wants all 5 features, you have time for 2.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Features: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1.  User authentication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2.  Search functionality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3.  Email notifications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4.  Analytics dashboard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5.  Mobile app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Watch me: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1.  Estimate Reach, Impact, Confidence, Effort for each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2.  Calculate RICE scores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3.  Prioritize based on scores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4.  Explain trade-offs (why top 2, not others)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4299E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3748"/>
                </a:solidFill>
              </a:defRPr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Morning Exercise — Backlog Prioritization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000" dist="20000" dir="27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Exercise: Backlog Prioritization (Individual)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Objective: Prioritize 15 features for a 2-week sprint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Time: 60 minutes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Format: Individual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Setup: Feature backlog in /day-7/backlog.md (15 items)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Your Task: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1.  For each feature, estimate: Reach, Impact, Confidence, Effort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2.  Calculate RICE scores (use spreadsheet template)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3.  Prioritize: What fits in 2-week sprint? (assume 2 devs)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4.  Document reasoning in PRIORITIZATION.md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Deliverable: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Completed RICE spreadsheet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PRIORITIZATION.md (what's in, what's out, why)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Morning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What Did You Prioritize?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Discussion (30 min):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What features did you prioritize (top 3)?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What trade-offs did you make?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Did anyone's prioritization differ significantly? Why?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How did you handle uncertainty (low confidence)?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Show of hands: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Who prioritized differently than RICE suggested? Why?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Who found this harder than expected?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Who's ready for this afternoon's pressure test?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4299E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3748"/>
                </a:solidFill>
              </a:defRPr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Afternoon Exercise — PM Under 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000" dist="20000" dir="27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INDIVIDUAL EXERCISE: PM Under Pressure</a:t>
            </a:r>
          </a:p>
          <a:p>
            <a:pPr>
              <a:spcBef>
                <a:spcPts val="1200"/>
              </a:spcBef>
              <a:defRPr sz="1700" b="1">
                <a:solidFill>
                  <a:srgbClr val="1A365D"/>
                </a:solidFill>
              </a:defRPr>
            </a:pPr>
            <a:r>
              <a:t>⚠️ THIS IS A SCORED PRESENTATION ⚠️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Time: 120 minutes prep + 15 min presentation each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Format: Individual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Scenario: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Client wants 5 features in 2 weeks.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Budget: Fixed.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Team: 2 developers.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Timeline: Non-negotiable (product launch tied to conference).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The 5 features total 6 person-weeks (you have 4).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Your Task: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1.  Estimate each feature using Claude (30 min)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2.  Create realistic delivery plan using RICE (40 min)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3.  Decide: What's in? What's out? What's at risk? (30 min)</a:t>
            </a:r>
          </a:p>
          <a:p>
            <a:pPr>
              <a:spcBef>
                <a:spcPts val="800"/>
              </a:spcBef>
              <a:defRPr sz="1600" b="0">
                <a:solidFill>
                  <a:srgbClr val="2D3748"/>
                </a:solidFill>
              </a:defRPr>
            </a:pPr>
            <a:r>
              <a:t>  4.  Prepare 10-minute presentation defending decisions (20 min)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Deliverable: DELIVERY-PLAN.md + 10-min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Individual 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Individual Presentations (15 min each)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Format: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10 minutes: Present your delivery plan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5 minutes: Tough Q&amp;A from evaluators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What to cover: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Your RICE scores and prioritization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What's in scope, what's out, what's at risk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WHY (trade-off reasoning)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Mitigation for risks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Evaluator Questions (Examples):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"Why did you cut Feature X? It's critical!"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"Can't you just add one more developer?"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"What if we pay overtime for weekends?"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"Your competitor promised all 5 features in 2 weeks."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>
            <a:noFill/>
          </a:ln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Resources for Day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8"/>
                </a:solidFill>
              </a:defRPr>
            </a:pPr>
            <a:r>
              <a:t>Resources for Day 7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📚 Reading: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"The Mythical Man-Month" (Brooks) — excerpts on estimation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RICE framework deep-dive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💡 Examples: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Real IOanyT delivery plans (sanitized)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Prioritization case studies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📝 Templates: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RICE-scoring-template.xlsx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DELIVERY-PLAN-template.md</a:t>
            </a:r>
          </a:p>
          <a:p>
            <a:pPr>
              <a:spcBef>
                <a:spcPts val="1400"/>
              </a:spcBef>
              <a:defRPr sz="1800" b="1">
                <a:solidFill>
                  <a:srgbClr val="1A365D"/>
                </a:solidFill>
              </a:defRPr>
            </a:pPr>
            <a:r>
              <a:t>🔧 Tools: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  •  Google Sheets for RICE calculations</a:t>
            </a:r>
          </a:p>
          <a:p>
            <a:pPr>
              <a:spcBef>
                <a:spcPts val="600"/>
              </a:spcBef>
              <a:defRPr sz="1600" b="0">
                <a:solidFill>
                  <a:srgbClr val="2D3748"/>
                </a:solidFill>
              </a:defRPr>
            </a:pPr>
            <a:r>
              <a:t>All in /day-7/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EC0"/>
                </a:solidFill>
              </a:defRPr>
            </a:pPr>
            <a:r>
              <a:t>IOanyT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EC0"/>
                </a:solidFill>
              </a:defRPr>
            </a:pPr>
            <a:r>
              <a:t>Confidential — Evaluator Copy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11243E"/>
              </a:gs>
              <a:gs pos="100000">
                <a:srgbClr val="2C528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109728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Closing — Daily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ED2EB"/>
                </a:solidFill>
              </a:defRPr>
            </a:pPr>
            <a:r>
              <a:t>Wrapping Up Day 7</a:t>
            </a:r>
          </a:p>
          <a:p>
            <a:pPr>
              <a:spcBef>
                <a:spcPts val="600"/>
              </a:spcBef>
              <a:defRPr sz="1600" b="0">
                <a:solidFill>
                  <a:srgbClr val="BED2EB"/>
                </a:solidFill>
              </a:defRPr>
            </a:pPr>
            <a:r>
              <a:t>Daily Reflection (2 min):</a:t>
            </a:r>
          </a:p>
          <a:p>
            <a:pPr>
              <a:spcBef>
                <a:spcPts val="800"/>
              </a:spcBef>
              <a:defRPr sz="1600" b="0">
                <a:solidFill>
                  <a:srgbClr val="BED2EB"/>
                </a:solidFill>
              </a:defRPr>
            </a:pPr>
            <a:r>
              <a:t>→  One thing you learned about PM decision-making</a:t>
            </a:r>
          </a:p>
          <a:p>
            <a:pPr>
              <a:spcBef>
                <a:spcPts val="800"/>
              </a:spcBef>
              <a:defRPr sz="1600" b="0">
                <a:solidFill>
                  <a:srgbClr val="BED2EB"/>
                </a:solidFill>
              </a:defRPr>
            </a:pPr>
            <a:r>
              <a:t>→  One decision you're proud you defended</a:t>
            </a:r>
          </a:p>
          <a:p>
            <a:pPr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Tomorrow Preview:</a:t>
            </a:r>
          </a:p>
          <a:p>
            <a:pPr>
              <a:spcBef>
                <a:spcPts val="600"/>
              </a:spcBef>
              <a:defRPr sz="1600" b="0">
                <a:solidFill>
                  <a:srgbClr val="BED2EB"/>
                </a:solidFill>
              </a:defRPr>
            </a:pPr>
            <a:r>
              <a:t>📅 Day 8: Full-Stack AI Orchestration</a:t>
            </a:r>
          </a:p>
          <a:p>
            <a:pPr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Focus: Collaboration + Adaptability</a:t>
            </a:r>
          </a:p>
          <a:p>
            <a:pPr>
              <a:spcBef>
                <a:spcPts val="600"/>
              </a:spcBef>
              <a:defRPr sz="1600" b="0">
                <a:solidFill>
                  <a:srgbClr val="BED2EB"/>
                </a:solidFill>
              </a:defRPr>
            </a:pPr>
            <a:r>
              <a:t>You'll work across multiple AI-assisted roles (PM, BA, Eng, QA) and practice role-switching.</a:t>
            </a:r>
          </a:p>
          <a:p>
            <a:pPr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Less pressure tomorrow, more skill-building.</a:t>
            </a:r>
          </a:p>
          <a:p>
            <a:pPr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See you at 9:00 AM!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
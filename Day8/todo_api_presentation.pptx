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56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331720"/>
            <a:ext cx="87782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D4FF"/>
                </a:solidFill>
              </a:rPr>
              <a:t>{ API DESIGN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Todo Management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8E0"/>
                </a:solidFill>
              </a:rPr>
              <a:t>End-to-End System Design &amp;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PM  →  BA  →  Engineer  →  QA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1188720" cy="292608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044952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017520"/>
            <a:ext cx="1188720" cy="292608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044952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017520"/>
            <a:ext cx="1188720" cy="292608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79" y="3044952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RESTful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017520"/>
            <a:ext cx="1188720" cy="292608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3044952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Structured Design  |  Validation  | 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PM — Product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8892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64008" cy="2331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Disorganized
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Task systems lack structured
data handling &amp; categorization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88720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18688" y="1188720"/>
            <a:ext cx="278892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18688" y="1188720"/>
            <a:ext cx="64008" cy="2331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Hard to Track
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9933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No consistent status tracking
leads to incomplete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188720"/>
            <a:ext cx="27889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188720"/>
            <a:ext cx="2788920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3056" y="1188720"/>
            <a:ext cx="64008" cy="2331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Inconsistent
Data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9933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Varying data formats cause
integration failures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859536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🎯  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67328"/>
            <a:ext cx="7223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Build a clean, structured Todo API that enables efficient task tracking and lifecycle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778240" cy="457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PM — Product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Scope &amp; Key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3794760" cy="361188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379476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3520440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2ECC71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CRUD operations for </a:t>
            </a:r>
            <a:r>
              <a:rPr sz="1100" dirty="0" err="1">
                <a:solidFill>
                  <a:srgbClr val="FFFFFF"/>
                </a:solidFill>
              </a:rPr>
              <a:t>Todos</a:t>
            </a:r>
            <a:endParaRPr sz="1100" dirty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2ECC71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Category management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2ECC71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Due date assignment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2ECC71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Completion tracking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2ECC71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Validation &amp; error handling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2ECC71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Pagination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43000"/>
            <a:ext cx="4160520" cy="361188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170432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✗  OUT OF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572768"/>
            <a:ext cx="388620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E74C3C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Authentication / Authorization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E74C3C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UI / Frontend layer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E74C3C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Advanced filtering &amp; search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E74C3C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High-scale optimization</a:t>
            </a:r>
          </a:p>
          <a:p>
            <a:pPr algn="l">
              <a:spcBef>
                <a:spcPts val="200"/>
              </a:spcBef>
            </a:pPr>
            <a:r>
              <a:rPr sz="1000" b="1" dirty="0">
                <a:solidFill>
                  <a:srgbClr val="E74C3C"/>
                </a:solidFill>
              </a:rPr>
              <a:t>▸  </a:t>
            </a:r>
            <a:r>
              <a:rPr sz="1100" dirty="0">
                <a:solidFill>
                  <a:srgbClr val="FFFFFF"/>
                </a:solidFill>
              </a:rPr>
              <a:t>Multi-tenancy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77824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BA — Business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Functional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3794760" cy="361188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379476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⚙️  CORE FUNCTIONALITIES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8E44AD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Create, Retrieve, Update, Delete todos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8E44AD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List todos with pagination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8E44AD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Category creation and listing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8E44AD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Completion status updates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8E44AD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Idempotent completion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43000"/>
            <a:ext cx="4160520" cy="361188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170432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🔬  ADVANCED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572768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00D4FF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Optimistic concurrency (version field)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00D4FF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Strict field-level validation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00D4FF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Pydantic schema enforcement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00D4FF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Structured JSON error responses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00D4FF"/>
                </a:solidFill>
              </a:rPr>
              <a:t>▸  </a:t>
            </a:r>
            <a:r>
              <a:rPr sz="1100">
                <a:solidFill>
                  <a:srgbClr val="FFFFFF"/>
                </a:solidFill>
              </a:rPr>
              <a:t>Case-insensitive category names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8321040" cy="65836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44AD"/>
                </a:solidFill>
              </a:rPr>
              <a:t>USER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E0"/>
                </a:solidFill>
              </a:rPr>
              <a:t>As a user I can create &amp; manage todos  ·  As a PM I can track completion  ·  As an engineer I can extend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BA — Business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Model &amp; API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977639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3977639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9786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📋  Todo 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1">
                <a:solidFill>
                  <a:srgbClr val="8E44AD"/>
                </a:solidFill>
              </a:rPr>
              <a:t>▸  </a:t>
            </a:r>
            <a:r>
              <a:rPr sz="1000">
                <a:solidFill>
                  <a:srgbClr val="0D1B2A"/>
                </a:solidFill>
              </a:rPr>
              <a:t>title, description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8E44AD"/>
                </a:solidFill>
              </a:rPr>
              <a:t>▸  </a:t>
            </a:r>
            <a:r>
              <a:rPr sz="1000">
                <a:solidFill>
                  <a:srgbClr val="0D1B2A"/>
                </a:solidFill>
              </a:rPr>
              <a:t>categoryId, dueDate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8E44AD"/>
                </a:solidFill>
              </a:rPr>
              <a:t>▸  </a:t>
            </a:r>
            <a:r>
              <a:rPr sz="1000">
                <a:solidFill>
                  <a:srgbClr val="0D1B2A"/>
                </a:solidFill>
              </a:rPr>
              <a:t>isCompleted, completedAt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8E44AD"/>
                </a:solidFill>
              </a:rPr>
              <a:t>▸  </a:t>
            </a:r>
            <a:r>
              <a:rPr sz="1000">
                <a:solidFill>
                  <a:srgbClr val="0D1B2A"/>
                </a:solidFill>
              </a:rPr>
              <a:t>createdAt, updatedAt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8E44AD"/>
                </a:solidFill>
              </a:rPr>
              <a:t>▸  </a:t>
            </a:r>
            <a:r>
              <a:rPr sz="1000">
                <a:solidFill>
                  <a:srgbClr val="0D1B2A"/>
                </a:solidFill>
              </a:rPr>
              <a:t>version  (concurrency control)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370332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Category 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130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id, name (case-insensitive unique)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170432"/>
            <a:ext cx="42976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1170432"/>
            <a:ext cx="429768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1197864"/>
            <a:ext cx="3886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🔗  REST Endpoints  /api/v1/...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645920"/>
            <a:ext cx="658368" cy="3017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1682496"/>
            <a:ext cx="621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0078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</a:rPr>
              <a:t>/todos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700784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List todos (paginated)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139696"/>
            <a:ext cx="658368" cy="3017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2176272"/>
            <a:ext cx="621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194560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</a:rPr>
              <a:t>/todos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194560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Create todo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33472"/>
            <a:ext cx="658368" cy="3017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90872" y="2670048"/>
            <a:ext cx="621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26883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</a:rPr>
              <a:t>/todos/{id}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688336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Update /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127248"/>
            <a:ext cx="658368" cy="3017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0872" y="3163824"/>
            <a:ext cx="621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18211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</a:rPr>
              <a:t>/todos/{id}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18211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Hard delete todo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621024"/>
            <a:ext cx="658368" cy="3017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3657600"/>
            <a:ext cx="621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675887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</a:rPr>
              <a:t>/categories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675887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List categories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4114800"/>
            <a:ext cx="658368" cy="3017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90872" y="4151376"/>
            <a:ext cx="6217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169663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</a:rPr>
              <a:t>/categories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169663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Create category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7782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ENG —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Engineering 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2651760" cy="11430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</a:rPr>
              <a:t>Async, high-performance
web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143000"/>
            <a:ext cx="2651760" cy="11430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14300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2344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600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</a:rPr>
              <a:t>Embedded relational
database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43000"/>
            <a:ext cx="2651760" cy="11430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4300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2344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Pydantic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</a:rPr>
              <a:t>Runtime data
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450592"/>
            <a:ext cx="5074920" cy="22860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25146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CC71"/>
                </a:solidFill>
              </a:rPr>
              <a:t>FEATURES IMPLEMENTED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5292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1">
                <a:solidFill>
                  <a:srgbClr val="2ECC71"/>
                </a:solidFill>
              </a:rPr>
              <a:t>▸  </a:t>
            </a:r>
            <a:r>
              <a:rPr sz="1050">
                <a:solidFill>
                  <a:srgbClr val="FFFFFF"/>
                </a:solidFill>
              </a:rPr>
              <a:t>Full CRUD API endpoints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2ECC71"/>
                </a:solidFill>
              </a:rPr>
              <a:t>▸  </a:t>
            </a:r>
            <a:r>
              <a:rPr sz="1050">
                <a:solidFill>
                  <a:srgbClr val="FFFFFF"/>
                </a:solidFill>
              </a:rPr>
              <a:t>Pagination (skip / limit params)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2ECC71"/>
                </a:solidFill>
              </a:rPr>
              <a:t>▸  </a:t>
            </a:r>
            <a:r>
              <a:rPr sz="1050">
                <a:solidFill>
                  <a:srgbClr val="FFFFFF"/>
                </a:solidFill>
              </a:rPr>
              <a:t>Pydantic schema validation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2ECC71"/>
                </a:solidFill>
              </a:rPr>
              <a:t>▸  </a:t>
            </a:r>
            <a:r>
              <a:rPr sz="1050">
                <a:solidFill>
                  <a:srgbClr val="FFFFFF"/>
                </a:solidFill>
              </a:rPr>
              <a:t>Optimistic concurrency control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2ECC71"/>
                </a:solidFill>
              </a:rPr>
              <a:t>▸  </a:t>
            </a:r>
            <a:r>
              <a:rPr sz="1050">
                <a:solidFill>
                  <a:srgbClr val="FFFFFF"/>
                </a:solidFill>
              </a:rPr>
              <a:t>Structured error handling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450592"/>
            <a:ext cx="2971800" cy="22860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25146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</a:rPr>
              <a:t>DESIGN CHOICES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852928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1">
                <a:solidFill>
                  <a:srgbClr val="00D4FF"/>
                </a:solidFill>
              </a:rPr>
              <a:t>▸  </a:t>
            </a:r>
            <a:r>
              <a:rPr sz="1000">
                <a:solidFill>
                  <a:srgbClr val="FFFFFF"/>
                </a:solidFill>
              </a:rPr>
              <a:t>Single-file MVP structure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00D4FF"/>
                </a:solidFill>
              </a:rPr>
              <a:t>▸  </a:t>
            </a:r>
            <a:r>
              <a:rPr sz="1000">
                <a:solidFill>
                  <a:srgbClr val="FFFFFF"/>
                </a:solidFill>
              </a:rPr>
              <a:t>RESTful conventions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00D4FF"/>
                </a:solidFill>
              </a:rPr>
              <a:t>▸  </a:t>
            </a:r>
            <a:r>
              <a:rPr sz="1000">
                <a:solidFill>
                  <a:srgbClr val="FFFFFF"/>
                </a:solidFill>
              </a:rPr>
              <a:t>Easy to extend &amp; test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00D4FF"/>
                </a:solidFill>
              </a:rPr>
              <a:t>▸  </a:t>
            </a:r>
            <a:r>
              <a:rPr sz="1000">
                <a:solidFill>
                  <a:srgbClr val="FFFFFF"/>
                </a:solidFill>
              </a:rPr>
              <a:t>Clean separation of concerns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ENG —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Behavior &amp;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977639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3977639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9786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⚙️  System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3749039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824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Completion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Sets / clears completedAt timestamp automatically on toggle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95728"/>
            <a:ext cx="3749039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43230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Version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700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Version mismatch returns HTTP 409 Conflict — no silent overwrite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45536"/>
            <a:ext cx="3749039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Hard 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198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Todos are permanently removed; no soft-delete or 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3749039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Category Unique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9663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Case-insensitive uniqueness enforced at DB 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170432"/>
            <a:ext cx="42976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1170432"/>
            <a:ext cx="4297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119786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⚠️  Known Limitations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645920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168249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No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92024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All endpoints are unauthenticated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395728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2432304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No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67004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Advanced filtering not implemented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145536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00600" y="318211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SQLite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41985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Not suitable for concurrent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895344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00600" y="393192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Logging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169663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Limited observability &amp;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77824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QA — Quality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QA Strategy &amp; Test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40233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4023360" cy="32918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17957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🔧 Functional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45336"/>
            <a:ext cx="3794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00" b="1">
                <a:solidFill>
                  <a:srgbClr val="1B6CA8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CRUD operations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1B6CA8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Category lifecycle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1B6CA8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Completion updates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1B6CA8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Pagination &amp; versioning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43000"/>
            <a:ext cx="40233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1143000"/>
            <a:ext cx="4023360" cy="32918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117957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🧩 Edge Case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545336"/>
            <a:ext cx="3794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00" b="1">
                <a:solidFill>
                  <a:srgbClr val="F39C12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Blank / invalid inputs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F39C12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Duplicate categories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F39C12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Invalid IDs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F39C12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Idempotency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44952"/>
            <a:ext cx="40233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044952"/>
            <a:ext cx="4023360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8152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🔒 Security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47288"/>
            <a:ext cx="3794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00" b="1">
                <a:solidFill>
                  <a:srgbClr val="E74C3C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SQL injection attempts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E74C3C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Oversized payloads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E74C3C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Malformed JSON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E74C3C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Input boundary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44952"/>
            <a:ext cx="4023360" cy="17373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80" y="3044952"/>
            <a:ext cx="402336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308152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⚡ Performance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447288"/>
            <a:ext cx="3794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00" b="1">
                <a:solidFill>
                  <a:srgbClr val="2ECC71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Max pagination load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2ECC71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Bulk operations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2ECC71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Concurrent updates</a:t>
            </a:r>
          </a:p>
          <a:p>
            <a:pPr algn="l">
              <a:spcBef>
                <a:spcPts val="200"/>
              </a:spcBef>
            </a:pPr>
            <a:r>
              <a:rPr sz="800" b="1">
                <a:solidFill>
                  <a:srgbClr val="2ECC71"/>
                </a:solidFill>
              </a:rPr>
              <a:t>▸  </a:t>
            </a:r>
            <a:r>
              <a:rPr sz="900">
                <a:solidFill>
                  <a:srgbClr val="FFFFFF"/>
                </a:solidFill>
              </a:rPr>
              <a:t>SQLite lock behavior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8321040" cy="2743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773168"/>
            <a:ext cx="8046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</a:rPr>
              <a:t>TC-HP-01: Create category  |  TC-EC-05: Version conflict  |  TC-ST-01: SQL injection  |  TC-PT-03: Concurrent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868680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45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QA — Quality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4747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Risks &amp; Test Scope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977639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3977639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197864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📋  Test Plan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50" b="1">
                <a:solidFill>
                  <a:srgbClr val="F39C12"/>
                </a:solidFill>
              </a:rPr>
              <a:t>▸  </a:t>
            </a:r>
            <a:r>
              <a:rPr sz="1050">
                <a:solidFill>
                  <a:srgbClr val="0D1B2A"/>
                </a:solidFill>
              </a:rPr>
              <a:t>Todo CRUD operations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F39C12"/>
                </a:solidFill>
              </a:rPr>
              <a:t>▸  </a:t>
            </a:r>
            <a:r>
              <a:rPr sz="1050">
                <a:solidFill>
                  <a:srgbClr val="0D1B2A"/>
                </a:solidFill>
              </a:rPr>
              <a:t>Category management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F39C12"/>
                </a:solidFill>
              </a:rPr>
              <a:t>▸  </a:t>
            </a:r>
            <a:r>
              <a:rPr sz="1050">
                <a:solidFill>
                  <a:srgbClr val="0D1B2A"/>
                </a:solidFill>
              </a:rPr>
              <a:t>Completion status tracking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F39C12"/>
                </a:solidFill>
              </a:rPr>
              <a:t>▸  </a:t>
            </a:r>
            <a:r>
              <a:rPr sz="1050">
                <a:solidFill>
                  <a:srgbClr val="0D1B2A"/>
                </a:solidFill>
              </a:rPr>
              <a:t>Validation rules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F39C12"/>
                </a:solidFill>
              </a:rPr>
              <a:t>▸  </a:t>
            </a:r>
            <a:r>
              <a:rPr sz="1050">
                <a:solidFill>
                  <a:srgbClr val="0D1B2A"/>
                </a:solidFill>
              </a:rPr>
              <a:t>Concurrency handling</a:t>
            </a:r>
          </a:p>
          <a:p>
            <a:pPr algn="l">
              <a:spcBef>
                <a:spcPts val="200"/>
              </a:spcBef>
            </a:pPr>
            <a:r>
              <a:rPr sz="950" b="1">
                <a:solidFill>
                  <a:srgbClr val="F39C12"/>
                </a:solidFill>
              </a:rPr>
              <a:t>▸  </a:t>
            </a:r>
            <a:r>
              <a:rPr sz="1050">
                <a:solidFill>
                  <a:srgbClr val="0D1B2A"/>
                </a:solidFill>
              </a:rPr>
              <a:t>SQLite persistence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70432"/>
            <a:ext cx="429768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170432"/>
            <a:ext cx="4297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19786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🚨  Key Risks Identified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645920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168249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SQLite Concurrency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92024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Write locks under concurrent load may cause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395728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2432304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Error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67004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Inconsistent error response shapes across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45536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318211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1985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Missing logging makes debugging hard in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895344"/>
            <a:ext cx="40690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600" y="393192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No Auth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169663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Security surface expands once auth is added later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423160"/>
            <a:ext cx="87782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606040"/>
            <a:ext cx="1965960" cy="15087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606040"/>
            <a:ext cx="1965960" cy="5486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066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6CA8"/>
                </a:solidFill>
              </a:rPr>
              <a:t>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E0"/>
                </a:solidFill>
              </a:rPr>
              <a:t>Problem → Scope →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606040"/>
            <a:ext cx="1965960" cy="15087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97479" y="2606040"/>
            <a:ext cx="196596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7066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E44AD"/>
                </a:solidFill>
              </a:rPr>
              <a:t>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06324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E0"/>
                </a:solidFill>
              </a:rPr>
              <a:t>Functional → Data → API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606040"/>
            <a:ext cx="1965960" cy="15087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00600" y="2606040"/>
            <a:ext cx="19659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27066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ENG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06324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E0"/>
                </a:solidFill>
              </a:rPr>
              <a:t>Implementation → Constraints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606040"/>
            <a:ext cx="1965960" cy="15087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20" y="2606040"/>
            <a:ext cx="196596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0" y="27066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6324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C8E0"/>
                </a:solidFill>
              </a:rPr>
              <a:t>Strategy → Coverage →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Todo Management API  ·  FastAPI + SQLite  ·  RESTful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685</Words>
  <Application>Microsoft Office PowerPoint</Application>
  <PresentationFormat>On-screen Show (16:9)</PresentationFormat>
  <Paragraphs>170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VINAY BHATT</cp:lastModifiedBy>
  <cp:revision>2</cp:revision>
  <dcterms:created xsi:type="dcterms:W3CDTF">2013-01-27T09:14:16Z</dcterms:created>
  <dcterms:modified xsi:type="dcterms:W3CDTF">2026-04-23T19:04:19Z</dcterms:modified>
  <cp:category/>
</cp:coreProperties>
</file>
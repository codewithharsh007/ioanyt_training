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7315200" cy="7315200"/>
          </a:xfrm>
          <a:prstGeom prst="ellipse">
            <a:avLst/>
          </a:prstGeom>
          <a:solidFill>
            <a:srgbClr val="0D4F8B">
              <a:alpha val="30000"/>
            </a:srgbClr>
          </a:solidFill>
          <a:ln w="12700">
            <a:solidFill>
              <a:srgbClr val="0D4F8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-731520"/>
            <a:ext cx="5029200" cy="5029200"/>
          </a:xfrm>
          <a:prstGeom prst="ellipse">
            <a:avLst/>
          </a:prstGeom>
          <a:solidFill>
            <a:srgbClr val="1E7FD8">
              <a:alpha val="20000"/>
            </a:srgbClr>
          </a:solidFill>
          <a:ln w="12700">
            <a:solidFill>
              <a:srgbClr val="1E7F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0D4F8B">
                <a:alpha val="8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65760"/>
            <a:ext cx="14630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API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Design &amp; Implementation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520440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52044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Management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3520440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0D4F8B">
              <a:alpha val="70000"/>
            </a:srgbClr>
          </a:solidFill>
          <a:ln w="12700">
            <a:solidFill>
              <a:srgbClr val="0D4F8B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52044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Analysis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3520440"/>
            <a:ext cx="2377440" cy="301752"/>
          </a:xfrm>
          <a:prstGeom prst="roundRect">
            <a:avLst>
              <a:gd name="adj" fmla="val 15152"/>
            </a:avLst>
          </a:prstGeom>
          <a:solidFill>
            <a:srgbClr val="7EC8E3">
              <a:alpha val="70000"/>
            </a:srgbClr>
          </a:solidFill>
          <a:ln w="12700">
            <a:solidFill>
              <a:srgbClr val="7EC8E3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52044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 &amp; QA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4D8"/>
                </a:solidFill>
              </a:rPr>
              <a:t>Lightweight API  •  Caching  •  Reliability  • 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📌 PM PERSPECTIVE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371600"/>
            <a:ext cx="3931920" cy="347472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The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CF0"/>
                </a:solidFill>
              </a:rPr>
              <a:t>Applications today call external weather APIs directly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164592" cy="164592"/>
          </a:xfrm>
          <a:prstGeom prst="ellipse">
            <a:avLst/>
          </a:prstGeom>
          <a:solidFill>
            <a:srgbClr val="E74C3C">
              <a:alpha val="90000"/>
            </a:srgbClr>
          </a:solidFill>
          <a:ln w="12700">
            <a:solidFill>
              <a:srgbClr val="E74C3C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331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🐢 High Latency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5877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Every app waits on the external provider, adding 500–1200ms to each request.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164592" cy="164592"/>
          </a:xfrm>
          <a:prstGeom prst="ellipse">
            <a:avLst/>
          </a:prstGeom>
          <a:solidFill>
            <a:srgbClr val="E74C3C">
              <a:alpha val="90000"/>
            </a:srgbClr>
          </a:solidFill>
          <a:ln w="12700">
            <a:solidFill>
              <a:srgbClr val="E74C3C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081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🚫 Rate Limiting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3375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Free/basic API tiers cap calls per minute — one burst of traffic causes failures.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164592" cy="164592"/>
          </a:xfrm>
          <a:prstGeom prst="ellipse">
            <a:avLst/>
          </a:prstGeom>
          <a:solidFill>
            <a:srgbClr val="E74C3C">
              <a:alpha val="90000"/>
            </a:srgbClr>
          </a:solidFill>
          <a:ln w="12700">
            <a:solidFill>
              <a:srgbClr val="E74C3C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831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💸 Increased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40873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Redundant calls across apps multiply API costs, with no shared benefit.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371600"/>
            <a:ext cx="4206240" cy="33832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371600"/>
            <a:ext cx="4206240" cy="347472"/>
          </a:xfrm>
          <a:prstGeom prst="rect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The Goal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1901952"/>
            <a:ext cx="146304" cy="146304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847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</a:rPr>
              <a:t>Centralized API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01184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One gateway serves all internal apps — no direct external calls.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2615184"/>
            <a:ext cx="146304" cy="146304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560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</a:rPr>
              <a:t>Aggregate Weather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1184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Current conditions + 3-day forecasts from a single endpoint.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3328416"/>
            <a:ext cx="146304" cy="146304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273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</a:rPr>
              <a:t>Reduce External Calls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01184" y="35112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In-memory cache with 30-min TTL minimizes provider hits.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81728" y="4041648"/>
            <a:ext cx="146304" cy="146304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9867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</a:rPr>
              <a:t>Improve Performance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01184" y="4224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Cache hits respond in ≤150ms vs 900ms+ for live calls.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</a:rPr>
              <a:t>Without a central layer, each new app recreates the same integration — and the same failures.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👥 PM PERSPECTIVE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Scope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1965960" cy="210312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Current Weather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31136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Real-time temperature, humidity, wind speed, and sky conditions for any city.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87168" y="1371600"/>
            <a:ext cx="1965960" cy="210312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87168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78608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3-Day Forecast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2231136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Day-by-day outlook with high/low temps and condition summary.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1371600"/>
            <a:ext cx="1965960" cy="210312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08576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0016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Provider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0016" y="2231136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Adapter-pattern connector to OpenWeather API — swappable without code changes.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9984" y="1371600"/>
            <a:ext cx="1965960" cy="210312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9984" y="1417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21424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Smart Caching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21424" y="2231136"/>
            <a:ext cx="1783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30-minute TTL in-memory cache with 6-hour stale fallback for provider outages.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</a:rPr>
              <a:t>Scope Boundaries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3931920" cy="96012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23360"/>
            <a:ext cx="6400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✅  IN SCOPE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315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• Weather retrieval by city name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5354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• Caching &amp; stale fallback logic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7548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• Standardized error handling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4023360"/>
            <a:ext cx="4206240" cy="96012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4023360"/>
            <a:ext cx="64008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❌  OUT OF SCOPE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3159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• Frontend UI or 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45354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• User authentication / OAuth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47548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• Analytics &amp; reporting layer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7FD8"/>
          </a:solidFill>
          <a:ln w="12700">
            <a:solidFill>
              <a:srgbClr val="1E7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📊 BA PERSPECTIVE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77640" cy="365760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80160"/>
            <a:ext cx="3977640" cy="384048"/>
          </a:xfrm>
          <a:prstGeom prst="rect">
            <a:avLst/>
          </a:prstGeom>
          <a:solidFill>
            <a:srgbClr val="1E7FD8">
              <a:alpha val="85000"/>
            </a:srgbClr>
          </a:solidFill>
          <a:ln w="12700">
            <a:solidFill>
              <a:srgbClr val="1E7FD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280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Functional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" y="181051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81051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18105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Fetch weather data by city name via GET request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2304288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0428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FR-02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23042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Return current conditions (temp, humidity, wind, sky)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279806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9806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FR-03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27980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Return 3-day forecast with daily high/low &amp; summary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3291840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29184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FR-04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32918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Cache successful responses for 30 minutes (TTL)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" y="3785616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78561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FR-05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3785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Serve stale cached data (up to 6 hrs) on provider failure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" y="427939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27939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FR-06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42793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Return standardized JSON with metadata flags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1280160"/>
            <a:ext cx="4114800" cy="365760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1280160"/>
            <a:ext cx="4114800" cy="384048"/>
          </a:xfrm>
          <a:prstGeom prst="rect">
            <a:avLst/>
          </a:prstGeom>
          <a:solidFill>
            <a:srgbClr val="F5C842">
              <a:alpha val="75000"/>
            </a:srgbClr>
          </a:solidFill>
          <a:ln w="12700">
            <a:solidFill>
              <a:srgbClr val="F5C842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12801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 Non-Functional Requirements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1828800"/>
            <a:ext cx="1170432" cy="77724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187452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</a:rPr>
              <a:t>≤150ms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54880" y="228600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</a:rPr>
              <a:t>Cache Hit Response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53328" y="1828800"/>
            <a:ext cx="1170432" cy="77724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53328" y="187452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</a:rPr>
              <a:t>≤900ms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53328" y="228600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</a:rPr>
              <a:t>Cache Miss (live call)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51776" y="1828800"/>
            <a:ext cx="1170432" cy="77724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51776" y="187452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</a:rPr>
              <a:t>99.5%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51776" y="228600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</a:rPr>
              <a:t>Availability Target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27448" y="2880360"/>
            <a:ext cx="146304" cy="146304"/>
          </a:xfrm>
          <a:prstGeom prst="ellipse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81635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30632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Structured logs + request metrics on every API call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27448" y="3383280"/>
            <a:ext cx="146304" cy="146304"/>
          </a:xfrm>
          <a:prstGeom prst="ellipse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31927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Graceful Degradation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37760" y="356616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Stale cache fallback maintains service during outages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27448" y="3886200"/>
            <a:ext cx="146304" cy="146304"/>
          </a:xfrm>
          <a:prstGeom prst="ellipse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82219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Input Validation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37760" y="406908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Invalid city name returns 400 with clear error message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27448" y="4389120"/>
            <a:ext cx="146304" cy="146304"/>
          </a:xfrm>
          <a:prstGeom prst="ellipse">
            <a:avLst/>
          </a:prstGeom>
          <a:solidFill>
            <a:srgbClr val="F5C842">
              <a:alpha val="80000"/>
            </a:srgbClr>
          </a:solidFill>
          <a:ln w="12700">
            <a:solidFill>
              <a:srgbClr val="F5C842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432511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Stateless Design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37760" y="457200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Each request independent; cache is the only shared state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7FD8"/>
          </a:solidFill>
          <a:ln w="12700">
            <a:solidFill>
              <a:srgbClr val="1E7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🔄 BA PERSPECTIVE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&amp; API Design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11480" y="1371600"/>
            <a:ext cx="1234440" cy="8686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234440"/>
            <a:ext cx="256032" cy="256032"/>
          </a:xfrm>
          <a:prstGeom prst="ellipse">
            <a:avLst/>
          </a:prstGeom>
          <a:solidFill>
            <a:srgbClr val="1E7FD8"/>
          </a:solidFill>
          <a:ln w="12700">
            <a:solidFill>
              <a:srgbClr val="1E7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6002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Received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55064" y="1773936"/>
            <a:ext cx="155448" cy="45720"/>
          </a:xfrm>
          <a:prstGeom prst="rect">
            <a:avLst/>
          </a:prstGeom>
          <a:solidFill>
            <a:srgbClr val="B0C4D8">
              <a:alpha val="70000"/>
            </a:srgbClr>
          </a:solidFill>
          <a:ln w="12700">
            <a:solidFill>
              <a:srgbClr val="B0C4D8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371600"/>
            <a:ext cx="1234440" cy="8686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31720" y="1234440"/>
            <a:ext cx="256032" cy="256032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16002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72384" y="1773936"/>
            <a:ext cx="155448" cy="45720"/>
          </a:xfrm>
          <a:prstGeom prst="rect">
            <a:avLst/>
          </a:prstGeom>
          <a:solidFill>
            <a:srgbClr val="B0C4D8">
              <a:alpha val="70000"/>
            </a:srgbClr>
          </a:solidFill>
          <a:ln w="12700">
            <a:solidFill>
              <a:srgbClr val="B0C4D8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371600"/>
            <a:ext cx="1234440" cy="8686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234440"/>
            <a:ext cx="256032" cy="256032"/>
          </a:xfrm>
          <a:prstGeom prst="ellipse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6002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Cache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9704" y="1773936"/>
            <a:ext cx="155448" cy="45720"/>
          </a:xfrm>
          <a:prstGeom prst="rect">
            <a:avLst/>
          </a:prstGeom>
          <a:solidFill>
            <a:srgbClr val="B0C4D8">
              <a:alpha val="70000"/>
            </a:srgbClr>
          </a:solidFill>
          <a:ln w="12700">
            <a:solidFill>
              <a:srgbClr val="B0C4D8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371600"/>
            <a:ext cx="1234440" cy="8686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66360" y="123444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6002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Cache Hit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Return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07024" y="1773936"/>
            <a:ext cx="155448" cy="45720"/>
          </a:xfrm>
          <a:prstGeom prst="rect">
            <a:avLst/>
          </a:prstGeom>
          <a:solidFill>
            <a:srgbClr val="B0C4D8">
              <a:alpha val="70000"/>
            </a:srgbClr>
          </a:solidFill>
          <a:ln w="12700">
            <a:solidFill>
              <a:srgbClr val="B0C4D8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1371600"/>
            <a:ext cx="1234440" cy="8686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0" y="1234440"/>
            <a:ext cx="256032" cy="256032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16002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Cache Miss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Provider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24344" y="1773936"/>
            <a:ext cx="155448" cy="45720"/>
          </a:xfrm>
          <a:prstGeom prst="rect">
            <a:avLst/>
          </a:prstGeom>
          <a:solidFill>
            <a:srgbClr val="B0C4D8">
              <a:alpha val="70000"/>
            </a:srgbClr>
          </a:solidFill>
          <a:ln w="12700">
            <a:solidFill>
              <a:srgbClr val="B0C4D8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1371600"/>
            <a:ext cx="1234440" cy="86868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01000" y="1234440"/>
            <a:ext cx="256032" cy="256032"/>
          </a:xfrm>
          <a:prstGeom prst="ellipse">
            <a:avLst/>
          </a:prstGeom>
          <a:solidFill>
            <a:srgbClr val="1E7FD8"/>
          </a:solidFill>
          <a:ln w="12700">
            <a:solidFill>
              <a:srgbClr val="1E7F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43800" y="160020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Respond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2514600"/>
            <a:ext cx="8412480" cy="640080"/>
          </a:xfrm>
          <a:prstGeom prst="rect">
            <a:avLst/>
          </a:prstGeom>
          <a:solidFill>
            <a:srgbClr val="0D4F8B">
              <a:alpha val="9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25146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API Endpoint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0240" y="2578608"/>
            <a:ext cx="914" cy="502920"/>
          </a:xfrm>
          <a:prstGeom prst="rect">
            <a:avLst/>
          </a:prstGeom>
          <a:solidFill>
            <a:srgbClr val="B0C4D8">
              <a:alpha val="70000"/>
            </a:srgbClr>
          </a:solidFill>
          <a:ln w="12700">
            <a:solidFill>
              <a:srgbClr val="B0C4D8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254203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/api/v1/weather?city={city_name}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Response Payload Includes: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3639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currentWeather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14600" y="36393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— Temperature, humidity, wind, sky description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3913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forecast[ ]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14600" y="391363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— Array of 3 ForecastDay objects (date, high, low, condition)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187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metadata.cacheHit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14600" y="41879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— Boolean — true if served from cache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4622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metadata.stale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514600" y="44622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— Boolean — true if fallback stale data was used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736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metadata.timestamp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14600" y="473659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— ISO-8601 timestamp of data freshness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7200" y="480974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</a:rPr>
              <a:t>🛡️  Fallback logic: If provider call fails and stale cache exists (&lt; 6 hrs), return stale data with  metadata.stale = true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E7FD8"/>
          </a:solidFill>
          <a:ln w="12700">
            <a:solidFill>
              <a:srgbClr val="1E7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🧠 BA PERSPECTIVE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Edge Cases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2011680" cy="219456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325880"/>
            <a:ext cx="2011680" cy="292608"/>
          </a:xfrm>
          <a:prstGeom prst="rect">
            <a:avLst/>
          </a:prstGeom>
          <a:solidFill>
            <a:srgbClr val="1E7FD8">
              <a:alpha val="75000"/>
            </a:srgbClr>
          </a:solidFill>
          <a:ln w="12700">
            <a:solidFill>
              <a:srgbClr val="1E7FD8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2588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WeatherCacheEntry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city: str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dict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368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cached_at: datetime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706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ttl_seconds: int = 1800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044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stale_ttl: int = 21600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42032" y="1325880"/>
            <a:ext cx="2011680" cy="219456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42032" y="1325880"/>
            <a:ext cx="2011680" cy="292608"/>
          </a:xfrm>
          <a:prstGeom prst="rect">
            <a:avLst/>
          </a:prstGeom>
          <a:solidFill>
            <a:srgbClr val="F5C842">
              <a:alpha val="75000"/>
            </a:srgbClr>
          </a:solidFill>
          <a:ln w="12700">
            <a:solidFill>
              <a:srgbClr val="F5C842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132588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WeatherRequestLog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request_id: UUID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city: str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2368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timestamp: datetime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2706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cache_hit: bool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3044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response_time_ms: 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18304" y="1325880"/>
            <a:ext cx="2011680" cy="219456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18304" y="1325880"/>
            <a:ext cx="2011680" cy="292608"/>
          </a:xfrm>
          <a:prstGeom prst="rect">
            <a:avLst/>
          </a:prstGeom>
          <a:solidFill>
            <a:srgbClr val="7EC8E3">
              <a:alpha val="75000"/>
            </a:srgbClr>
          </a:solidFill>
          <a:ln w="12700">
            <a:solidFill>
              <a:srgbClr val="7EC8E3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32588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CurrentWeather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temp_c: float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humidity: int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8032" y="2368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wind_kph: float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2706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str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3044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icon_code: str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94576" y="1325880"/>
            <a:ext cx="2011680" cy="219456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94576" y="1325880"/>
            <a:ext cx="2011680" cy="292608"/>
          </a:xfrm>
          <a:prstGeom prst="rect">
            <a:avLst/>
          </a:prstGeom>
          <a:solidFill>
            <a:srgbClr val="2ECC71">
              <a:alpha val="75000"/>
            </a:srgbClr>
          </a:solidFill>
          <a:ln w="12700">
            <a:solidFill>
              <a:srgbClr val="2ECC71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132588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ForecastDay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04304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date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04304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high_c: float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04304" y="2368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low_c: float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04304" y="2706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str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04304" y="3044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precip_mm: float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36758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Edge Cases &amp; Mitigations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40507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E3"/>
                </a:solidFill>
              </a:rPr>
              <a:t>🏙️  Invalid City Input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0" y="4050792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Return HTTP 400 with descriptive message; do not cache the error response.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4270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E3"/>
                </a:solidFill>
              </a:rPr>
              <a:t>🌩️  Provider Failure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0" y="4270248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Serve stale cache (≤6 hrs old) with stale:true flag; log the outage.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4897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E3"/>
                </a:solidFill>
              </a:rPr>
              <a:t>⏰  Cache Expiry During Request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0" y="4489704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Lock the key momentarily; first caller fetches, others wait (thundering herd guard).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65760" y="4709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E3"/>
                </a:solidFill>
              </a:rPr>
              <a:t>🔄  Concurrent Cache Misses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00400" y="4709160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Mutex/lock on cache key prevents multiple simultaneous provider calls for same city.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49286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E3"/>
                </a:solidFill>
              </a:rPr>
              <a:t>🗂️  Duplicate / Malformed Data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200400" y="4928616"/>
            <a:ext cx="5532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Validate and normalize provider response before storing; reject partial payloads.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⚙️ ENGINEERING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1508760" cy="96012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1719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197510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Core language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57400" y="1325880"/>
            <a:ext cx="1508760" cy="96012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5740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1719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197510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Web framework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325880"/>
            <a:ext cx="1508760" cy="96012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🌤️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794760" y="1719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OpenWeather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197510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Data provider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0680" y="1325880"/>
            <a:ext cx="1508760" cy="96012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86400" y="1719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In-Memory Cache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197510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Dict + TTL logic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32320" y="1325880"/>
            <a:ext cx="1508760" cy="960120"/>
          </a:xfrm>
          <a:prstGeom prst="rect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78040" y="17190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Pydantic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78040" y="197510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Data validation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24505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Architecture: Request → Service → Provider → Cache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2834640"/>
            <a:ext cx="1965960" cy="148132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834640"/>
            <a:ext cx="1965960" cy="274320"/>
          </a:xfrm>
          <a:prstGeom prst="rect">
            <a:avLst/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8346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 Layer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154680"/>
            <a:ext cx="1783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FastAPI router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receives 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validates city param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59152" y="3538728"/>
            <a:ext cx="137160" cy="45720"/>
          </a:xfrm>
          <a:prstGeom prst="rect">
            <a:avLst/>
          </a:prstGeom>
          <a:solidFill>
            <a:srgbClr val="7EC8E3">
              <a:alpha val="80000"/>
            </a:srgbClr>
          </a:solidFill>
          <a:ln w="12700">
            <a:solidFill>
              <a:srgbClr val="7EC8E3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14600" y="2834640"/>
            <a:ext cx="1965960" cy="148132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14600" y="2834640"/>
            <a:ext cx="1965960" cy="274320"/>
          </a:xfrm>
          <a:prstGeom prst="rect">
            <a:avLst/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28346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 Layer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06040" y="3154680"/>
            <a:ext cx="1783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Orchestrates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lookup, provider call,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normalization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07992" y="3538728"/>
            <a:ext cx="137160" cy="45720"/>
          </a:xfrm>
          <a:prstGeom prst="rect">
            <a:avLst/>
          </a:prstGeom>
          <a:solidFill>
            <a:srgbClr val="7EC8E3">
              <a:alpha val="80000"/>
            </a:srgbClr>
          </a:solidFill>
          <a:ln w="12700">
            <a:solidFill>
              <a:srgbClr val="7EC8E3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834640"/>
            <a:ext cx="1965960" cy="148132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2834640"/>
            <a:ext cx="1965960" cy="274320"/>
          </a:xfrm>
          <a:prstGeom prst="rect">
            <a:avLst/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28346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Provider Adapter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154680"/>
            <a:ext cx="1783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OpenWeather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connector using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Adapter pattern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56832" y="3538728"/>
            <a:ext cx="137160" cy="45720"/>
          </a:xfrm>
          <a:prstGeom prst="rect">
            <a:avLst/>
          </a:prstGeom>
          <a:solidFill>
            <a:srgbClr val="7EC8E3">
              <a:alpha val="80000"/>
            </a:srgbClr>
          </a:solidFill>
          <a:ln w="12700">
            <a:solidFill>
              <a:srgbClr val="7EC8E3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12280" y="2834640"/>
            <a:ext cx="1965960" cy="148132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12280" y="2834640"/>
            <a:ext cx="1965960" cy="274320"/>
          </a:xfrm>
          <a:prstGeom prst="rect">
            <a:avLst/>
          </a:prstGeom>
          <a:solidFill>
            <a:srgbClr val="1E7FD8">
              <a:alpha val="70000"/>
            </a:srgbClr>
          </a:solidFill>
          <a:ln w="12700">
            <a:solidFill>
              <a:srgbClr val="1E7FD8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85432" y="28346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Cache Layer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03720" y="3154680"/>
            <a:ext cx="1783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In-memory dict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with TTL &amp; stale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fallback logic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</a:rPr>
              <a:t>Key Implementation Features: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11480" y="4718304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Input validation via Pydantic models — invalid city → immediate 400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11480" y="4937760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Normalized response schema regardless of provider format changes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11480" y="5157216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Health endpoint  GET /health  returns cache stats &amp; provider status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" y="5376672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Adapter pattern isolates provider — swap OpenWeather for any other with zero refactor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🚀 ENGINEERING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31920" cy="356616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80160"/>
            <a:ext cx="3931920" cy="347472"/>
          </a:xfrm>
          <a:prstGeom prst="rect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Current Limitations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" y="1810512"/>
            <a:ext cx="146304" cy="146304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175564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In-Memory Cache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19933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Single-process memory means cache is lost on restart and cannot be shared across multiple instances/pods.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2395728"/>
            <a:ext cx="146304" cy="146304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34086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No Rate Limiting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" y="2578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The API itself imposes no throttle on incoming callers — a single bad actor can flood the system.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2980944"/>
            <a:ext cx="146304" cy="146304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92608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No Multi-City Disambiguation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" y="31638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'London' could be UK or Canada; no geocoding or country qualifier supported.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" y="3566160"/>
            <a:ext cx="146304" cy="146304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51129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Limited Observability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3749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Logs exist but no metrics dashboard, tracing, or alerting configured out of the box.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4151376"/>
            <a:ext cx="146304" cy="146304"/>
          </a:xfrm>
          <a:prstGeom prst="ellipse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409651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Synchronous HTTP Calls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" y="433425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Provider calls block the thread — concurrent cache misses may queue up under load.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1280160"/>
            <a:ext cx="4206240" cy="3566160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280160"/>
            <a:ext cx="4206240" cy="347472"/>
          </a:xfrm>
          <a:prstGeom prst="rect">
            <a:avLst/>
          </a:prstGeom>
          <a:solidFill>
            <a:srgbClr val="2ECC71">
              <a:alpha val="75000"/>
            </a:srgbClr>
          </a:solidFill>
          <a:ln w="12700">
            <a:solidFill>
              <a:srgbClr val="2ECC71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28016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✨  Future Improvements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1728" y="1810512"/>
            <a:ext cx="146304" cy="146304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1755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Redis Caching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1993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Shared, persistent cache across instances — enables horizontal scaling.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81728" y="2395728"/>
            <a:ext cx="146304" cy="146304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3408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Async HTTP (httpx)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01184" y="2578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Non-blocking provider calls; handle burst traffic without thread starvation.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81728" y="2980944"/>
            <a:ext cx="146304" cy="146304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29260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Docker + Kubernetes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01184" y="3163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Containerized deployment with auto-scaling and rolling updates.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81728" y="3566160"/>
            <a:ext cx="146304" cy="146304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5112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Logging &amp; Monitoring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01184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Structured JSON logs → ELK/Grafana stack with latency &amp; error rate alerts.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81728" y="4151376"/>
            <a:ext cx="146304" cy="146304"/>
          </a:xfrm>
          <a:prstGeom prst="ellipse">
            <a:avLst/>
          </a:prstGeom>
          <a:solidFill>
            <a:srgbClr val="2ECC71">
              <a:alpha val="80000"/>
            </a:srgbClr>
          </a:solidFill>
          <a:ln w="12700">
            <a:solidFill>
              <a:srgbClr val="2ECC71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01184" y="40965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API Security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01184" y="43342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API key auth, rate limiting middleware, and HTTPS-only enforcement.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88289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</a:rPr>
              <a:t>V2 Roadmap:  Redis  →  Async  →  Docker  →  Monitoring  →  Security  →  Geocoding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2743200"/>
          </a:xfrm>
          <a:prstGeom prst="ellipse">
            <a:avLst/>
          </a:prstGeom>
          <a:solidFill>
            <a:srgbClr val="0D4F8B">
              <a:alpha val="20000"/>
            </a:srgbClr>
          </a:solidFill>
          <a:ln w="12700">
            <a:solidFill>
              <a:srgbClr val="0D4F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3657600"/>
          </a:xfrm>
          <a:prstGeom prst="ellipse">
            <a:avLst/>
          </a:prstGeom>
          <a:solidFill>
            <a:srgbClr val="1E7FD8">
              <a:alpha val="15000"/>
            </a:srgbClr>
          </a:solidFill>
          <a:ln w="12700">
            <a:solidFill>
              <a:srgbClr val="1E7F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73152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3200400"/>
            <a:ext cx="73152" cy="73152"/>
          </a:xfrm>
          <a:prstGeom prst="ellipse">
            <a:avLst/>
          </a:prstGeom>
          <a:solidFill>
            <a:srgbClr val="7EC8E3">
              <a:alpha val="60000"/>
            </a:srgbClr>
          </a:solidFill>
          <a:ln w="12700">
            <a:solidFill>
              <a:srgbClr val="7EC8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🧪 QA PERSPECTIVE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Strategy &amp; Risks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3931920" cy="166420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325880"/>
            <a:ext cx="3931920" cy="292608"/>
          </a:xfrm>
          <a:prstGeom prst="rect">
            <a:avLst/>
          </a:prstGeom>
          <a:solidFill>
            <a:srgbClr val="0D4F8B">
              <a:alpha val="90000"/>
            </a:srgbClr>
          </a:solidFill>
          <a:ln w="12700">
            <a:solidFill>
              <a:srgbClr val="0D4F8B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Functional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673352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Valid city → correct weather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984248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3-day forecast completeness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295144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API response schema validation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60604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HTTP status code correctness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3931920" cy="166420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25880"/>
            <a:ext cx="3931920" cy="292608"/>
          </a:xfrm>
          <a:prstGeom prst="rect">
            <a:avLst/>
          </a:prstGeom>
          <a:solidFill>
            <a:srgbClr val="0D4F8B">
              <a:alpha val="90000"/>
            </a:srgbClr>
          </a:solidFill>
          <a:ln w="12700">
            <a:solidFill>
              <a:srgbClr val="0D4F8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🔥  Edge Case Testing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673352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Invalid / unknown city → 400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1984248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Empty city param → 400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95144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Duplicate calls → single provider hit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60604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Malformed API response handling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3931920" cy="166420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54680"/>
            <a:ext cx="3931920" cy="292608"/>
          </a:xfrm>
          <a:prstGeom prst="rect">
            <a:avLst/>
          </a:prstGeom>
          <a:solidFill>
            <a:srgbClr val="0D4F8B">
              <a:alpha val="90000"/>
            </a:srgbClr>
          </a:solidFill>
          <a:ln w="12700">
            <a:solidFill>
              <a:srgbClr val="0D4F8B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54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 Security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502152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SQL injection in city param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3813048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XSS / special character injection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123944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Oversized payload handling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443484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No auth bypass vulnerability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154680"/>
            <a:ext cx="3931920" cy="1664208"/>
          </a:xfrm>
          <a:prstGeom prst="rect">
            <a:avLst/>
          </a:prstGeom>
          <a:solidFill>
            <a:srgbClr val="0D2845"/>
          </a:solidFill>
          <a:ln w="12700">
            <a:solidFill>
              <a:srgbClr val="1E7FD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154680"/>
            <a:ext cx="3931920" cy="292608"/>
          </a:xfrm>
          <a:prstGeom prst="rect">
            <a:avLst/>
          </a:prstGeom>
          <a:solidFill>
            <a:srgbClr val="0D4F8B">
              <a:alpha val="90000"/>
            </a:srgbClr>
          </a:solidFill>
          <a:ln w="12700">
            <a:solidFill>
              <a:srgbClr val="0D4F8B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154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Performance Testing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502152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Concurrent requests (thundering herd)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3813048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Cache hit response ≤150ms verified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4123944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Load test: 100 RPS sustained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4434840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• Provider timeout + fallback timing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Key Risks: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554480" y="4882896"/>
            <a:ext cx="1737360" cy="228600"/>
          </a:xfrm>
          <a:prstGeom prst="roundRect">
            <a:avLst>
              <a:gd name="adj" fmla="val 20000"/>
            </a:avLst>
          </a:prstGeom>
          <a:solidFill>
            <a:srgbClr val="E74C3C">
              <a:alpha val="55000"/>
            </a:srgbClr>
          </a:solidFill>
          <a:ln w="12700">
            <a:solidFill>
              <a:srgbClr val="E74C3C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200" y="48828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SQLite concurrency issues under load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29000" y="4882896"/>
            <a:ext cx="1737360" cy="228600"/>
          </a:xfrm>
          <a:prstGeom prst="roundRect">
            <a:avLst>
              <a:gd name="adj" fmla="val 20000"/>
            </a:avLst>
          </a:prstGeom>
          <a:solidFill>
            <a:srgbClr val="E74C3C">
              <a:alpha val="55000"/>
            </a:srgbClr>
          </a:solidFill>
          <a:ln w="12700">
            <a:solidFill>
              <a:srgbClr val="E74C3C">
                <a:alpha val="5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48828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Inconsistent error response format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03520" y="4882896"/>
            <a:ext cx="1737360" cy="228600"/>
          </a:xfrm>
          <a:prstGeom prst="roundRect">
            <a:avLst>
              <a:gd name="adj" fmla="val 20000"/>
            </a:avLst>
          </a:prstGeom>
          <a:solidFill>
            <a:srgbClr val="E74C3C">
              <a:alpha val="55000"/>
            </a:srgbClr>
          </a:solidFill>
          <a:ln w="12700">
            <a:solidFill>
              <a:srgbClr val="E74C3C">
                <a:alpha val="5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48828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Missing distributed tracing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78040" y="4882896"/>
            <a:ext cx="1737360" cy="228600"/>
          </a:xfrm>
          <a:prstGeom prst="roundRect">
            <a:avLst>
              <a:gd name="adj" fmla="val 20000"/>
            </a:avLst>
          </a:prstGeom>
          <a:solidFill>
            <a:srgbClr val="E74C3C">
              <a:alpha val="55000"/>
            </a:srgbClr>
          </a:solidFill>
          <a:ln w="12700">
            <a:solidFill>
              <a:srgbClr val="E74C3C">
                <a:alpha val="5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48828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 retry logic on provider timeout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0D4F8B">
              <a:alpha val="25000"/>
            </a:srgbClr>
          </a:solidFill>
          <a:ln w="12700">
            <a:solidFill>
              <a:srgbClr val="0D4F8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182880"/>
            <a:ext cx="4572000" cy="4572000"/>
          </a:xfrm>
          <a:prstGeom prst="ellipse">
            <a:avLst/>
          </a:prstGeom>
          <a:solidFill>
            <a:srgbClr val="1E7FD8">
              <a:alpha val="18000"/>
            </a:srgbClr>
          </a:solidFill>
          <a:ln w="12700">
            <a:solidFill>
              <a:srgbClr val="1E7FD8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97280" y="914400"/>
            <a:ext cx="1097280" cy="74980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6858000" y="640080"/>
            <a:ext cx="1463040" cy="10058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82880"/>
            <a:ext cx="1828800" cy="1234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1463040"/>
            <a:ext cx="73152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8" name="Text 3"/>
          <p:cNvSpPr/>
          <p:nvPr/>
        </p:nvSpPr>
        <p:spPr>
          <a:xfrm>
            <a:off x="1371600" y="2743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EC8E3"/>
                </a:solidFill>
              </a:rPr>
              <a:t>Weather Data Aggregation API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1097280" y="33375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D4F8B">
              <a:alpha val="85000"/>
            </a:srgbClr>
          </a:solidFill>
          <a:ln w="12700">
            <a:solidFill>
              <a:srgbClr val="1E7FD8">
                <a:alpha val="60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9728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PM ✓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880360" y="33375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D4F8B">
              <a:alpha val="85000"/>
            </a:srgbClr>
          </a:solidFill>
          <a:ln w="12700">
            <a:solidFill>
              <a:srgbClr val="1E7FD8">
                <a:alpha val="60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88036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BA ✓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63440" y="33375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D4F8B">
              <a:alpha val="85000"/>
            </a:srgbClr>
          </a:solidFill>
          <a:ln w="12700">
            <a:solidFill>
              <a:srgbClr val="1E7FD8">
                <a:alpha val="6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6344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Engineering ✓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46520" y="333756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D4F8B">
              <a:alpha val="85000"/>
            </a:srgbClr>
          </a:solidFill>
          <a:ln w="12700">
            <a:solidFill>
              <a:srgbClr val="1E7FD8">
                <a:alpha val="6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4652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</a:rPr>
              <a:t>QA ✓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4D8"/>
                </a:solidFill>
              </a:rPr>
              <a:t>Built with reliability, performance, and clean architecture at its core.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434840" y="4800600"/>
            <a:ext cx="274320" cy="274320"/>
          </a:xfrm>
          <a:prstGeom prst="ellipse">
            <a:avLst/>
          </a:prstGeom>
          <a:solidFill>
            <a:srgbClr val="F5C842">
              <a:alpha val="70000"/>
            </a:srgbClr>
          </a:solidFill>
          <a:ln w="12700">
            <a:solidFill>
              <a:srgbClr val="F5C842">
                <a:alpha val="7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43484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Data Aggregation API</dc:title>
  <dc:subject>PptxGenJS Presentation</dc:subject>
  <dc:creator>PptxGenJS</dc:creator>
  <cp:lastModifiedBy>PptxGenJS</cp:lastModifiedBy>
  <cp:revision>1</cp:revision>
  <dcterms:created xsi:type="dcterms:W3CDTF">2026-04-23T19:19:57Z</dcterms:created>
  <dcterms:modified xsi:type="dcterms:W3CDTF">2026-04-23T19:19:57Z</dcterms:modified>
</cp:coreProperties>
</file>
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457200" y="822960"/>
            <a:ext cx="5303520" cy="822960"/>
          </a:xfrm>
          <a:prstGeom prst="rect">
            <a:avLst/>
          </a:prstGeom>
          <a:noFill/>
        </p:spPr>
        <p:txBody>
          <a:bodyPr wrap="square" lIns="0" tIns="0" rIns="0" bIns="0" rtlCol="0" anchor="ctr"/>
          <a:lstStyle/>
          <a:p>
            <a:pPr marL="0" indent="0">
              <a:buNone/>
            </a:pPr>
            <a:r>
              <a:rPr lang="en-US" sz="3800" b="1" dirty="0">
                <a:solidFill>
                  <a:srgbClr val="2563EB"/>
                </a:solidFill>
                <a:latin typeface="Trebuchet MS" pitchFamily="34" charset="0"/>
                <a:ea typeface="Trebuchet MS" pitchFamily="34" charset="-122"/>
                <a:cs typeface="Trebuchet MS" pitchFamily="34" charset="-120"/>
              </a:rPr>
              <a:t>AI-Driven SDLC</a:t>
            </a:r>
            <a:endParaRPr lang="en-US" sz="3800" dirty="0"/>
          </a:p>
        </p:txBody>
      </p:sp>
      <p:sp>
        <p:nvSpPr>
          <p:cNvPr id="4" name="Text 2"/>
          <p:cNvSpPr/>
          <p:nvPr/>
        </p:nvSpPr>
        <p:spPr>
          <a:xfrm>
            <a:off x="457200" y="1554480"/>
            <a:ext cx="5303520" cy="822960"/>
          </a:xfrm>
          <a:prstGeom prst="rect">
            <a:avLst/>
          </a:prstGeom>
          <a:noFill/>
        </p:spPr>
        <p:txBody>
          <a:bodyPr wrap="square" lIns="0" tIns="0" rIns="0" bIns="0" rtlCol="0" anchor="ctr"/>
          <a:lstStyle/>
          <a:p>
            <a:pPr marL="0" indent="0">
              <a:buNone/>
            </a:pPr>
            <a:r>
              <a:rPr lang="en-US" sz="3800" b="1" dirty="0">
                <a:solidFill>
                  <a:srgbClr val="1E293B"/>
                </a:solidFill>
                <a:latin typeface="Trebuchet MS" pitchFamily="34" charset="0"/>
                <a:ea typeface="Trebuchet MS" pitchFamily="34" charset="-122"/>
                <a:cs typeface="Trebuchet MS" pitchFamily="34" charset="-120"/>
              </a:rPr>
              <a:t>Workflow System</a:t>
            </a:r>
            <a:endParaRPr lang="en-US" sz="3800" dirty="0"/>
          </a:p>
        </p:txBody>
      </p:sp>
      <p:sp>
        <p:nvSpPr>
          <p:cNvPr id="5" name="Shape 3"/>
          <p:cNvSpPr/>
          <p:nvPr/>
        </p:nvSpPr>
        <p:spPr>
          <a:xfrm>
            <a:off x="457200" y="2423160"/>
            <a:ext cx="4937760" cy="411480"/>
          </a:xfrm>
          <a:prstGeom prst="rect">
            <a:avLst/>
          </a:prstGeom>
          <a:solidFill>
            <a:srgbClr val="DBEAFE"/>
          </a:solidFill>
          <a:ln w="12700">
            <a:solidFill>
              <a:srgbClr val="2563EB"/>
            </a:solidFill>
            <a:prstDash val="solid"/>
          </a:ln>
        </p:spPr>
      </p:sp>
      <p:sp>
        <p:nvSpPr>
          <p:cNvPr id="6" name="Text 4"/>
          <p:cNvSpPr/>
          <p:nvPr/>
        </p:nvSpPr>
        <p:spPr>
          <a:xfrm>
            <a:off x="502920" y="2450592"/>
            <a:ext cx="4846320" cy="347472"/>
          </a:xfrm>
          <a:prstGeom prst="rect">
            <a:avLst/>
          </a:prstGeom>
          <a:noFill/>
        </p:spPr>
        <p:txBody>
          <a:bodyPr wrap="square" lIns="0" tIns="0" rIns="0" bIns="0" rtlCol="0" anchor="ctr"/>
          <a:lstStyle/>
          <a:p>
            <a:pPr marL="0" indent="0" algn="ctr">
              <a:buNone/>
            </a:pPr>
            <a:r>
              <a:rPr lang="en-US" sz="1000" dirty="0">
                <a:solidFill>
                  <a:srgbClr val="2563EB"/>
                </a:solidFill>
                <a:latin typeface="Calibri" pitchFamily="34" charset="0"/>
                <a:ea typeface="Calibri" pitchFamily="34" charset="-122"/>
                <a:cs typeface="Calibri" pitchFamily="34" charset="-120"/>
              </a:rPr>
              <a:t>Automating the Software Development Lifecycle Using Role-Based AI Prompts</a:t>
            </a:r>
            <a:endParaRPr lang="en-US" sz="1000" dirty="0"/>
          </a:p>
        </p:txBody>
      </p:sp>
      <p:sp>
        <p:nvSpPr>
          <p:cNvPr id="7" name="Shape 5"/>
          <p:cNvSpPr/>
          <p:nvPr/>
        </p:nvSpPr>
        <p:spPr>
          <a:xfrm>
            <a:off x="457200" y="2971800"/>
            <a:ext cx="1737360" cy="292608"/>
          </a:xfrm>
          <a:prstGeom prst="rect">
            <a:avLst/>
          </a:prstGeom>
          <a:solidFill>
            <a:srgbClr val="2563EB"/>
          </a:solidFill>
          <a:ln w="12700">
            <a:solidFill>
              <a:srgbClr val="2563EB"/>
            </a:solidFill>
            <a:prstDash val="solid"/>
          </a:ln>
        </p:spPr>
      </p:sp>
      <p:sp>
        <p:nvSpPr>
          <p:cNvPr id="8" name="Text 6"/>
          <p:cNvSpPr/>
          <p:nvPr/>
        </p:nvSpPr>
        <p:spPr>
          <a:xfrm>
            <a:off x="475488" y="2990088"/>
            <a:ext cx="1700784" cy="256032"/>
          </a:xfrm>
          <a:prstGeom prst="rect">
            <a:avLst/>
          </a:prstGeom>
          <a:noFill/>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Code Factory</a:t>
            </a:r>
            <a:endParaRPr lang="en-US" sz="900" dirty="0"/>
          </a:p>
        </p:txBody>
      </p:sp>
      <p:sp>
        <p:nvSpPr>
          <p:cNvPr id="9" name="Text 7"/>
          <p:cNvSpPr/>
          <p:nvPr/>
        </p:nvSpPr>
        <p:spPr>
          <a:xfrm>
            <a:off x="457200" y="3429000"/>
            <a:ext cx="5120640" cy="274320"/>
          </a:xfrm>
          <a:prstGeom prst="rect">
            <a:avLst/>
          </a:prstGeom>
          <a:noFill/>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Presented by: Harsh</a:t>
            </a:r>
            <a:r>
              <a:rPr lang="en-US" sz="1100" dirty="0">
                <a:solidFill>
                  <a:srgbClr val="475569"/>
                </a:solidFill>
                <a:latin typeface="Calibri" pitchFamily="34" charset="0"/>
                <a:ea typeface="Calibri" pitchFamily="34" charset="-122"/>
                <a:cs typeface="Calibri" pitchFamily="34" charset="-120"/>
              </a:rPr>
              <a:t> </a:t>
            </a:r>
            <a:endParaRPr lang="en-US" sz="1100" dirty="0"/>
          </a:p>
        </p:txBody>
      </p:sp>
      <p:sp>
        <p:nvSpPr>
          <p:cNvPr id="12" name="Shape 10"/>
          <p:cNvSpPr/>
          <p:nvPr/>
        </p:nvSpPr>
        <p:spPr>
          <a:xfrm>
            <a:off x="5943600" y="457200"/>
            <a:ext cx="2926080" cy="4389120"/>
          </a:xfrm>
          <a:prstGeom prst="rect">
            <a:avLst/>
          </a:prstGeom>
          <a:solidFill>
            <a:srgbClr val="DBEAFE"/>
          </a:solidFill>
          <a:ln w="12700">
            <a:solidFill>
              <a:srgbClr val="2563EB"/>
            </a:solidFill>
            <a:prstDash val="solid"/>
          </a:ln>
        </p:spPr>
      </p:sp>
      <p:sp>
        <p:nvSpPr>
          <p:cNvPr id="13" name="Text 11"/>
          <p:cNvSpPr/>
          <p:nvPr/>
        </p:nvSpPr>
        <p:spPr>
          <a:xfrm>
            <a:off x="6035040" y="640080"/>
            <a:ext cx="2743200" cy="320040"/>
          </a:xfrm>
          <a:prstGeom prst="rect">
            <a:avLst/>
          </a:prstGeom>
          <a:noFill/>
        </p:spPr>
        <p:txBody>
          <a:bodyPr wrap="square" lIns="0" tIns="0" rIns="0" bIns="0" rtlCol="0" anchor="ctr"/>
          <a:lstStyle/>
          <a:p>
            <a:pPr marL="0" indent="0" algn="ctr">
              <a:buNone/>
            </a:pPr>
            <a:r>
              <a:rPr lang="en-US" sz="1100" b="1" dirty="0">
                <a:solidFill>
                  <a:srgbClr val="2563EB"/>
                </a:solidFill>
                <a:latin typeface="Trebuchet MS" pitchFamily="34" charset="0"/>
                <a:ea typeface="Trebuchet MS" pitchFamily="34" charset="-122"/>
                <a:cs typeface="Trebuchet MS" pitchFamily="34" charset="-120"/>
              </a:rPr>
              <a:t>SDLC Pipeline</a:t>
            </a:r>
            <a:endParaRPr lang="en-US" sz="1100" dirty="0"/>
          </a:p>
        </p:txBody>
      </p:sp>
      <p:sp>
        <p:nvSpPr>
          <p:cNvPr id="14" name="Shape 12"/>
          <p:cNvSpPr/>
          <p:nvPr/>
        </p:nvSpPr>
        <p:spPr>
          <a:xfrm>
            <a:off x="6172200" y="1097280"/>
            <a:ext cx="2468880" cy="384048"/>
          </a:xfrm>
          <a:prstGeom prst="rect">
            <a:avLst/>
          </a:prstGeom>
          <a:solidFill>
            <a:srgbClr val="FFFFFF"/>
          </a:solidFill>
          <a:ln w="25400">
            <a:solidFill>
              <a:srgbClr val="2563EB"/>
            </a:solidFill>
            <a:prstDash val="solid"/>
          </a:ln>
        </p:spPr>
      </p:sp>
      <p:sp>
        <p:nvSpPr>
          <p:cNvPr id="15" name="Shape 13"/>
          <p:cNvSpPr/>
          <p:nvPr/>
        </p:nvSpPr>
        <p:spPr>
          <a:xfrm>
            <a:off x="6172200" y="1097280"/>
            <a:ext cx="502920" cy="384048"/>
          </a:xfrm>
          <a:prstGeom prst="rect">
            <a:avLst/>
          </a:prstGeom>
          <a:solidFill>
            <a:srgbClr val="2563EB"/>
          </a:solidFill>
          <a:ln w="12700">
            <a:solidFill>
              <a:srgbClr val="2563EB"/>
            </a:solidFill>
            <a:prstDash val="solid"/>
          </a:ln>
        </p:spPr>
      </p:sp>
      <p:sp>
        <p:nvSpPr>
          <p:cNvPr id="16" name="Text 14"/>
          <p:cNvSpPr/>
          <p:nvPr/>
        </p:nvSpPr>
        <p:spPr>
          <a:xfrm>
            <a:off x="6172200" y="1097280"/>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PM</a:t>
            </a:r>
            <a:endParaRPr lang="en-US" sz="800" dirty="0"/>
          </a:p>
        </p:txBody>
      </p:sp>
      <p:sp>
        <p:nvSpPr>
          <p:cNvPr id="17" name="Text 15"/>
          <p:cNvSpPr/>
          <p:nvPr/>
        </p:nvSpPr>
        <p:spPr>
          <a:xfrm>
            <a:off x="6720840" y="1097280"/>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Requirements</a:t>
            </a:r>
            <a:endParaRPr lang="en-US" sz="900" dirty="0"/>
          </a:p>
        </p:txBody>
      </p:sp>
      <p:sp>
        <p:nvSpPr>
          <p:cNvPr id="18" name="Text 16"/>
          <p:cNvSpPr/>
          <p:nvPr/>
        </p:nvSpPr>
        <p:spPr>
          <a:xfrm>
            <a:off x="7223760" y="1481328"/>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19" name="Shape 17"/>
          <p:cNvSpPr/>
          <p:nvPr/>
        </p:nvSpPr>
        <p:spPr>
          <a:xfrm>
            <a:off x="6172200" y="1591056"/>
            <a:ext cx="2468880" cy="384048"/>
          </a:xfrm>
          <a:prstGeom prst="rect">
            <a:avLst/>
          </a:prstGeom>
          <a:solidFill>
            <a:srgbClr val="FFFFFF"/>
          </a:solidFill>
          <a:ln w="25400">
            <a:solidFill>
              <a:srgbClr val="6366F1"/>
            </a:solidFill>
            <a:prstDash val="solid"/>
          </a:ln>
        </p:spPr>
      </p:sp>
      <p:sp>
        <p:nvSpPr>
          <p:cNvPr id="20" name="Shape 18"/>
          <p:cNvSpPr/>
          <p:nvPr/>
        </p:nvSpPr>
        <p:spPr>
          <a:xfrm>
            <a:off x="6172200" y="1591056"/>
            <a:ext cx="502920" cy="384048"/>
          </a:xfrm>
          <a:prstGeom prst="rect">
            <a:avLst/>
          </a:prstGeom>
          <a:solidFill>
            <a:srgbClr val="6366F1"/>
          </a:solidFill>
          <a:ln w="12700">
            <a:solidFill>
              <a:srgbClr val="6366F1"/>
            </a:solidFill>
            <a:prstDash val="solid"/>
          </a:ln>
        </p:spPr>
      </p:sp>
      <p:sp>
        <p:nvSpPr>
          <p:cNvPr id="21" name="Text 19"/>
          <p:cNvSpPr/>
          <p:nvPr/>
        </p:nvSpPr>
        <p:spPr>
          <a:xfrm>
            <a:off x="6172200" y="1591056"/>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BA</a:t>
            </a:r>
            <a:endParaRPr lang="en-US" sz="800" dirty="0"/>
          </a:p>
        </p:txBody>
      </p:sp>
      <p:sp>
        <p:nvSpPr>
          <p:cNvPr id="22" name="Text 20"/>
          <p:cNvSpPr/>
          <p:nvPr/>
        </p:nvSpPr>
        <p:spPr>
          <a:xfrm>
            <a:off x="6720840" y="1591056"/>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User Stories</a:t>
            </a:r>
            <a:endParaRPr lang="en-US" sz="900" dirty="0"/>
          </a:p>
        </p:txBody>
      </p:sp>
      <p:sp>
        <p:nvSpPr>
          <p:cNvPr id="23" name="Text 21"/>
          <p:cNvSpPr/>
          <p:nvPr/>
        </p:nvSpPr>
        <p:spPr>
          <a:xfrm>
            <a:off x="7223760" y="1975104"/>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24" name="Shape 22"/>
          <p:cNvSpPr/>
          <p:nvPr/>
        </p:nvSpPr>
        <p:spPr>
          <a:xfrm>
            <a:off x="6172200" y="2084832"/>
            <a:ext cx="2468880" cy="384048"/>
          </a:xfrm>
          <a:prstGeom prst="rect">
            <a:avLst/>
          </a:prstGeom>
          <a:solidFill>
            <a:srgbClr val="FFFFFF"/>
          </a:solidFill>
          <a:ln w="25400">
            <a:solidFill>
              <a:srgbClr val="8B5CF6"/>
            </a:solidFill>
            <a:prstDash val="solid"/>
          </a:ln>
        </p:spPr>
      </p:sp>
      <p:sp>
        <p:nvSpPr>
          <p:cNvPr id="25" name="Shape 23"/>
          <p:cNvSpPr/>
          <p:nvPr/>
        </p:nvSpPr>
        <p:spPr>
          <a:xfrm>
            <a:off x="6172200" y="2084832"/>
            <a:ext cx="502920" cy="384048"/>
          </a:xfrm>
          <a:prstGeom prst="rect">
            <a:avLst/>
          </a:prstGeom>
          <a:solidFill>
            <a:srgbClr val="8B5CF6"/>
          </a:solidFill>
          <a:ln w="12700">
            <a:solidFill>
              <a:srgbClr val="8B5CF6"/>
            </a:solidFill>
            <a:prstDash val="solid"/>
          </a:ln>
        </p:spPr>
      </p:sp>
      <p:sp>
        <p:nvSpPr>
          <p:cNvPr id="26" name="Text 24"/>
          <p:cNvSpPr/>
          <p:nvPr/>
        </p:nvSpPr>
        <p:spPr>
          <a:xfrm>
            <a:off x="6172200" y="2084832"/>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UX</a:t>
            </a:r>
            <a:endParaRPr lang="en-US" sz="800" dirty="0"/>
          </a:p>
        </p:txBody>
      </p:sp>
      <p:sp>
        <p:nvSpPr>
          <p:cNvPr id="27" name="Text 25"/>
          <p:cNvSpPr/>
          <p:nvPr/>
        </p:nvSpPr>
        <p:spPr>
          <a:xfrm>
            <a:off x="6720840" y="2084832"/>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Design Specs</a:t>
            </a:r>
            <a:endParaRPr lang="en-US" sz="900" dirty="0"/>
          </a:p>
        </p:txBody>
      </p:sp>
      <p:sp>
        <p:nvSpPr>
          <p:cNvPr id="28" name="Text 26"/>
          <p:cNvSpPr/>
          <p:nvPr/>
        </p:nvSpPr>
        <p:spPr>
          <a:xfrm>
            <a:off x="7223760" y="2468880"/>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172200" y="2578608"/>
            <a:ext cx="2468880" cy="384048"/>
          </a:xfrm>
          <a:prstGeom prst="rect">
            <a:avLst/>
          </a:prstGeom>
          <a:solidFill>
            <a:srgbClr val="FFFFFF"/>
          </a:solidFill>
          <a:ln w="25400">
            <a:solidFill>
              <a:srgbClr val="0891B2"/>
            </a:solidFill>
            <a:prstDash val="solid"/>
          </a:ln>
        </p:spPr>
      </p:sp>
      <p:sp>
        <p:nvSpPr>
          <p:cNvPr id="30" name="Shape 28"/>
          <p:cNvSpPr/>
          <p:nvPr/>
        </p:nvSpPr>
        <p:spPr>
          <a:xfrm>
            <a:off x="6172200" y="2578608"/>
            <a:ext cx="502920" cy="384048"/>
          </a:xfrm>
          <a:prstGeom prst="rect">
            <a:avLst/>
          </a:prstGeom>
          <a:solidFill>
            <a:srgbClr val="0891B2"/>
          </a:solidFill>
          <a:ln w="12700">
            <a:solidFill>
              <a:srgbClr val="0891B2"/>
            </a:solidFill>
            <a:prstDash val="solid"/>
          </a:ln>
        </p:spPr>
      </p:sp>
      <p:sp>
        <p:nvSpPr>
          <p:cNvPr id="31" name="Text 29"/>
          <p:cNvSpPr/>
          <p:nvPr/>
        </p:nvSpPr>
        <p:spPr>
          <a:xfrm>
            <a:off x="6172200" y="2578608"/>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ENG</a:t>
            </a:r>
            <a:endParaRPr lang="en-US" sz="800" dirty="0"/>
          </a:p>
        </p:txBody>
      </p:sp>
      <p:sp>
        <p:nvSpPr>
          <p:cNvPr id="32" name="Text 30"/>
          <p:cNvSpPr/>
          <p:nvPr/>
        </p:nvSpPr>
        <p:spPr>
          <a:xfrm>
            <a:off x="6720840" y="2578608"/>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Architecture</a:t>
            </a:r>
            <a:endParaRPr lang="en-US" sz="900" dirty="0"/>
          </a:p>
        </p:txBody>
      </p:sp>
      <p:sp>
        <p:nvSpPr>
          <p:cNvPr id="33" name="Text 31"/>
          <p:cNvSpPr/>
          <p:nvPr/>
        </p:nvSpPr>
        <p:spPr>
          <a:xfrm>
            <a:off x="7223760" y="2962656"/>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34" name="Shape 32"/>
          <p:cNvSpPr/>
          <p:nvPr/>
        </p:nvSpPr>
        <p:spPr>
          <a:xfrm>
            <a:off x="6172200" y="3072384"/>
            <a:ext cx="2468880" cy="384048"/>
          </a:xfrm>
          <a:prstGeom prst="rect">
            <a:avLst/>
          </a:prstGeom>
          <a:solidFill>
            <a:srgbClr val="FFFFFF"/>
          </a:solidFill>
          <a:ln w="25400">
            <a:solidFill>
              <a:srgbClr val="059669"/>
            </a:solidFill>
            <a:prstDash val="solid"/>
          </a:ln>
        </p:spPr>
      </p:sp>
      <p:sp>
        <p:nvSpPr>
          <p:cNvPr id="35" name="Shape 33"/>
          <p:cNvSpPr/>
          <p:nvPr/>
        </p:nvSpPr>
        <p:spPr>
          <a:xfrm>
            <a:off x="6172200" y="3072384"/>
            <a:ext cx="502920" cy="384048"/>
          </a:xfrm>
          <a:prstGeom prst="rect">
            <a:avLst/>
          </a:prstGeom>
          <a:solidFill>
            <a:srgbClr val="059669"/>
          </a:solidFill>
          <a:ln w="12700">
            <a:solidFill>
              <a:srgbClr val="059669"/>
            </a:solidFill>
            <a:prstDash val="solid"/>
          </a:ln>
        </p:spPr>
      </p:sp>
      <p:sp>
        <p:nvSpPr>
          <p:cNvPr id="36" name="Text 34"/>
          <p:cNvSpPr/>
          <p:nvPr/>
        </p:nvSpPr>
        <p:spPr>
          <a:xfrm>
            <a:off x="6172200" y="3072384"/>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QA</a:t>
            </a:r>
            <a:endParaRPr lang="en-US" sz="800" dirty="0"/>
          </a:p>
        </p:txBody>
      </p:sp>
      <p:sp>
        <p:nvSpPr>
          <p:cNvPr id="37" name="Text 35"/>
          <p:cNvSpPr/>
          <p:nvPr/>
        </p:nvSpPr>
        <p:spPr>
          <a:xfrm>
            <a:off x="6720840" y="3072384"/>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Test Plan</a:t>
            </a:r>
            <a:endParaRPr lang="en-US" sz="900" dirty="0"/>
          </a:p>
        </p:txBody>
      </p:sp>
      <p:sp>
        <p:nvSpPr>
          <p:cNvPr id="38" name="Text 36"/>
          <p:cNvSpPr/>
          <p:nvPr/>
        </p:nvSpPr>
        <p:spPr>
          <a:xfrm>
            <a:off x="7223760" y="3456432"/>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39" name="Shape 37"/>
          <p:cNvSpPr/>
          <p:nvPr/>
        </p:nvSpPr>
        <p:spPr>
          <a:xfrm>
            <a:off x="6172200" y="3566160"/>
            <a:ext cx="2468880" cy="384048"/>
          </a:xfrm>
          <a:prstGeom prst="rect">
            <a:avLst/>
          </a:prstGeom>
          <a:solidFill>
            <a:srgbClr val="FFFFFF"/>
          </a:solidFill>
          <a:ln w="25400">
            <a:solidFill>
              <a:srgbClr val="D97706"/>
            </a:solidFill>
            <a:prstDash val="solid"/>
          </a:ln>
        </p:spPr>
      </p:sp>
      <p:sp>
        <p:nvSpPr>
          <p:cNvPr id="40" name="Shape 38"/>
          <p:cNvSpPr/>
          <p:nvPr/>
        </p:nvSpPr>
        <p:spPr>
          <a:xfrm>
            <a:off x="6172200" y="3566160"/>
            <a:ext cx="502920" cy="384048"/>
          </a:xfrm>
          <a:prstGeom prst="rect">
            <a:avLst/>
          </a:prstGeom>
          <a:solidFill>
            <a:srgbClr val="D97706"/>
          </a:solidFill>
          <a:ln w="12700">
            <a:solidFill>
              <a:srgbClr val="D97706"/>
            </a:solidFill>
            <a:prstDash val="solid"/>
          </a:ln>
        </p:spPr>
      </p:sp>
      <p:sp>
        <p:nvSpPr>
          <p:cNvPr id="41" name="Text 39"/>
          <p:cNvSpPr/>
          <p:nvPr/>
        </p:nvSpPr>
        <p:spPr>
          <a:xfrm>
            <a:off x="6172200" y="3566160"/>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DevOps</a:t>
            </a:r>
            <a:endParaRPr lang="en-US" sz="800" dirty="0"/>
          </a:p>
        </p:txBody>
      </p:sp>
      <p:sp>
        <p:nvSpPr>
          <p:cNvPr id="42" name="Text 40"/>
          <p:cNvSpPr/>
          <p:nvPr/>
        </p:nvSpPr>
        <p:spPr>
          <a:xfrm>
            <a:off x="6720840" y="3566160"/>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Infrastructure</a:t>
            </a:r>
            <a:endParaRPr lang="en-US" sz="900" dirty="0"/>
          </a:p>
        </p:txBody>
      </p:sp>
      <p:sp>
        <p:nvSpPr>
          <p:cNvPr id="43" name="Text 41"/>
          <p:cNvSpPr/>
          <p:nvPr/>
        </p:nvSpPr>
        <p:spPr>
          <a:xfrm>
            <a:off x="7223760" y="3950208"/>
            <a:ext cx="365760" cy="109728"/>
          </a:xfrm>
          <a:prstGeom prst="rect">
            <a:avLst/>
          </a:prstGeom>
          <a:noFill/>
        </p:spPr>
        <p:txBody>
          <a:bodyPr wrap="square" lIns="0" tIns="0" rIns="0" bIns="0" rtlCol="0" anchor="ctr"/>
          <a:lstStyle/>
          <a:p>
            <a:pPr marL="0" indent="0" algn="ctr">
              <a:buNone/>
            </a:pPr>
            <a:r>
              <a:rPr lang="en-US" sz="800" dirty="0">
                <a:solidFill>
                  <a:srgbClr val="2563EB"/>
                </a:solidFill>
                <a:latin typeface="Calibri" pitchFamily="34" charset="0"/>
                <a:ea typeface="Calibri" pitchFamily="34" charset="-122"/>
                <a:cs typeface="Calibri" pitchFamily="34" charset="-120"/>
              </a:rPr>
              <a:t>↓</a:t>
            </a:r>
            <a:endParaRPr lang="en-US" sz="800" dirty="0"/>
          </a:p>
        </p:txBody>
      </p:sp>
      <p:sp>
        <p:nvSpPr>
          <p:cNvPr id="44" name="Shape 42"/>
          <p:cNvSpPr/>
          <p:nvPr/>
        </p:nvSpPr>
        <p:spPr>
          <a:xfrm>
            <a:off x="6172200" y="4059936"/>
            <a:ext cx="2468880" cy="384048"/>
          </a:xfrm>
          <a:prstGeom prst="rect">
            <a:avLst/>
          </a:prstGeom>
          <a:solidFill>
            <a:srgbClr val="FFFFFF"/>
          </a:solidFill>
          <a:ln w="25400">
            <a:solidFill>
              <a:srgbClr val="DC2626"/>
            </a:solidFill>
            <a:prstDash val="solid"/>
          </a:ln>
        </p:spPr>
      </p:sp>
      <p:sp>
        <p:nvSpPr>
          <p:cNvPr id="45" name="Shape 43"/>
          <p:cNvSpPr/>
          <p:nvPr/>
        </p:nvSpPr>
        <p:spPr>
          <a:xfrm>
            <a:off x="6172200" y="4059936"/>
            <a:ext cx="502920" cy="384048"/>
          </a:xfrm>
          <a:prstGeom prst="rect">
            <a:avLst/>
          </a:prstGeom>
          <a:solidFill>
            <a:srgbClr val="DC2626"/>
          </a:solidFill>
          <a:ln w="12700">
            <a:solidFill>
              <a:srgbClr val="DC2626"/>
            </a:solidFill>
            <a:prstDash val="solid"/>
          </a:ln>
        </p:spPr>
      </p:sp>
      <p:sp>
        <p:nvSpPr>
          <p:cNvPr id="46" name="Text 44"/>
          <p:cNvSpPr/>
          <p:nvPr/>
        </p:nvSpPr>
        <p:spPr>
          <a:xfrm>
            <a:off x="6172200" y="4059936"/>
            <a:ext cx="502920" cy="384048"/>
          </a:xfrm>
          <a:prstGeom prst="rect">
            <a:avLst/>
          </a:prstGeom>
          <a:noFill/>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Code</a:t>
            </a:r>
            <a:endParaRPr lang="en-US" sz="800" dirty="0"/>
          </a:p>
        </p:txBody>
      </p:sp>
      <p:sp>
        <p:nvSpPr>
          <p:cNvPr id="47" name="Text 45"/>
          <p:cNvSpPr/>
          <p:nvPr/>
        </p:nvSpPr>
        <p:spPr>
          <a:xfrm>
            <a:off x="6720840" y="4059936"/>
            <a:ext cx="1874520" cy="384048"/>
          </a:xfrm>
          <a:prstGeom prst="rect">
            <a:avLst/>
          </a:prstGeom>
          <a:noFill/>
        </p:spPr>
        <p:txBody>
          <a:bodyPr wrap="square" lIns="0" tIns="0" rIns="0" bIns="0" rtlCol="0" anchor="ctr"/>
          <a:lstStyle/>
          <a:p>
            <a:pPr marL="0" indent="0" algn="l">
              <a:buNone/>
            </a:pPr>
            <a:r>
              <a:rPr lang="en-US" sz="900" dirty="0">
                <a:solidFill>
                  <a:srgbClr val="1E293B"/>
                </a:solidFill>
                <a:latin typeface="Calibri" pitchFamily="34" charset="0"/>
                <a:ea typeface="Calibri" pitchFamily="34" charset="-122"/>
                <a:cs typeface="Calibri" pitchFamily="34" charset="-120"/>
              </a:rPr>
              <a:t>Generation</a:t>
            </a:r>
            <a:endParaRPr lang="en-US" sz="900" dirty="0"/>
          </a:p>
        </p:txBody>
      </p:sp>
      <p:sp>
        <p:nvSpPr>
          <p:cNvPr id="48" name="Text 46"/>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What Was My Task?</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22960"/>
            <a:ext cx="8412480" cy="1188720"/>
          </a:xfrm>
          <a:prstGeom prst="rect">
            <a:avLst/>
          </a:prstGeom>
          <a:solidFill>
            <a:srgbClr val="DBEAFE"/>
          </a:solidFill>
          <a:ln w="12700">
            <a:solidFill>
              <a:srgbClr val="2563EB"/>
            </a:solidFill>
            <a:prstDash val="solid"/>
          </a:ln>
        </p:spPr>
      </p:sp>
      <p:sp>
        <p:nvSpPr>
          <p:cNvPr id="7" name="Shape 5"/>
          <p:cNvSpPr/>
          <p:nvPr/>
        </p:nvSpPr>
        <p:spPr>
          <a:xfrm>
            <a:off x="365760" y="822960"/>
            <a:ext cx="73152" cy="1188720"/>
          </a:xfrm>
          <a:prstGeom prst="rect">
            <a:avLst/>
          </a:prstGeom>
          <a:solidFill>
            <a:srgbClr val="2563EB"/>
          </a:solidFill>
          <a:ln w="12700">
            <a:solidFill>
              <a:srgbClr val="2563EB"/>
            </a:solidFill>
            <a:prstDash val="solid"/>
          </a:ln>
        </p:spPr>
      </p:sp>
      <p:sp>
        <p:nvSpPr>
          <p:cNvPr id="8" name="Text 6"/>
          <p:cNvSpPr/>
          <p:nvPr/>
        </p:nvSpPr>
        <p:spPr>
          <a:xfrm>
            <a:off x="594360" y="932688"/>
            <a:ext cx="7955280" cy="274320"/>
          </a:xfrm>
          <a:prstGeom prst="rect">
            <a:avLst/>
          </a:prstGeom>
          <a:noFill/>
        </p:spPr>
        <p:txBody>
          <a:bodyPr wrap="square" lIns="0" tIns="0" rIns="0" bIns="0"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The Goal</a:t>
            </a:r>
            <a:endParaRPr lang="en-US" sz="1200" dirty="0"/>
          </a:p>
        </p:txBody>
      </p:sp>
      <p:sp>
        <p:nvSpPr>
          <p:cNvPr id="9" name="Text 7"/>
          <p:cNvSpPr/>
          <p:nvPr/>
        </p:nvSpPr>
        <p:spPr>
          <a:xfrm>
            <a:off x="594360" y="1207008"/>
            <a:ext cx="7955280" cy="68580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 was asked to design a system that simulates a real-world Software Development Lifecycle (SDLC) using AI. The objective was to create a structured, reusable workflow that any developer or team could use for any project without having to rebuild it from scratch every time.</a:t>
            </a:r>
            <a:endParaRPr lang="en-US" sz="1100" dirty="0"/>
          </a:p>
        </p:txBody>
      </p:sp>
      <p:sp>
        <p:nvSpPr>
          <p:cNvPr id="10" name="Shape 8"/>
          <p:cNvSpPr/>
          <p:nvPr/>
        </p:nvSpPr>
        <p:spPr>
          <a:xfrm>
            <a:off x="365760" y="2194560"/>
            <a:ext cx="8412480" cy="1188720"/>
          </a:xfrm>
          <a:prstGeom prst="rect">
            <a:avLst/>
          </a:prstGeom>
          <a:solidFill>
            <a:srgbClr val="E0E7FF"/>
          </a:solidFill>
          <a:ln w="12700">
            <a:solidFill>
              <a:srgbClr val="6366F1"/>
            </a:solidFill>
            <a:prstDash val="solid"/>
          </a:ln>
        </p:spPr>
      </p:sp>
      <p:sp>
        <p:nvSpPr>
          <p:cNvPr id="11" name="Shape 9"/>
          <p:cNvSpPr/>
          <p:nvPr/>
        </p:nvSpPr>
        <p:spPr>
          <a:xfrm>
            <a:off x="365760" y="2194560"/>
            <a:ext cx="73152" cy="1188720"/>
          </a:xfrm>
          <a:prstGeom prst="rect">
            <a:avLst/>
          </a:prstGeom>
          <a:solidFill>
            <a:srgbClr val="6366F1"/>
          </a:solidFill>
          <a:ln w="12700">
            <a:solidFill>
              <a:srgbClr val="6366F1"/>
            </a:solidFill>
            <a:prstDash val="solid"/>
          </a:ln>
        </p:spPr>
      </p:sp>
      <p:sp>
        <p:nvSpPr>
          <p:cNvPr id="12" name="Text 10"/>
          <p:cNvSpPr/>
          <p:nvPr/>
        </p:nvSpPr>
        <p:spPr>
          <a:xfrm>
            <a:off x="594360" y="2304288"/>
            <a:ext cx="7955280" cy="274320"/>
          </a:xfrm>
          <a:prstGeom prst="rect">
            <a:avLst/>
          </a:prstGeom>
          <a:noFill/>
        </p:spPr>
        <p:txBody>
          <a:bodyPr wrap="square" lIns="0" tIns="0" rIns="0" bIns="0" rtlCol="0" anchor="ctr"/>
          <a:lstStyle/>
          <a:p>
            <a:pPr marL="0" indent="0">
              <a:buNone/>
            </a:pPr>
            <a:r>
              <a:rPr lang="en-US" sz="1200" b="1" dirty="0">
                <a:solidFill>
                  <a:srgbClr val="6366F1"/>
                </a:solidFill>
                <a:latin typeface="Trebuchet MS" pitchFamily="34" charset="0"/>
                <a:ea typeface="Trebuchet MS" pitchFamily="34" charset="-122"/>
                <a:cs typeface="Trebuchet MS" pitchFamily="34" charset="-120"/>
              </a:rPr>
              <a:t>The Scope</a:t>
            </a:r>
            <a:endParaRPr lang="en-US" sz="1200" dirty="0"/>
          </a:p>
        </p:txBody>
      </p:sp>
      <p:sp>
        <p:nvSpPr>
          <p:cNvPr id="13" name="Text 11"/>
          <p:cNvSpPr/>
          <p:nvPr/>
        </p:nvSpPr>
        <p:spPr>
          <a:xfrm>
            <a:off x="594360" y="2484755"/>
            <a:ext cx="7955280" cy="69215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system needed to cover the complete journey from raw client requirements all the way to production-ready code without skipping any standard industry step or professional role that would normally be involved in delivery.</a:t>
            </a:r>
            <a:endParaRPr lang="en-US" sz="1100" dirty="0"/>
          </a:p>
        </p:txBody>
      </p:sp>
      <p:sp>
        <p:nvSpPr>
          <p:cNvPr id="14" name="Shape 12"/>
          <p:cNvSpPr/>
          <p:nvPr/>
        </p:nvSpPr>
        <p:spPr>
          <a:xfrm>
            <a:off x="365760" y="3566160"/>
            <a:ext cx="8412480" cy="1188720"/>
          </a:xfrm>
          <a:prstGeom prst="rect">
            <a:avLst/>
          </a:prstGeom>
          <a:solidFill>
            <a:srgbClr val="DBEAFE"/>
          </a:solidFill>
          <a:ln w="12700">
            <a:solidFill>
              <a:srgbClr val="2563EB"/>
            </a:solidFill>
            <a:prstDash val="solid"/>
          </a:ln>
        </p:spPr>
      </p:sp>
      <p:sp>
        <p:nvSpPr>
          <p:cNvPr id="15" name="Shape 13"/>
          <p:cNvSpPr/>
          <p:nvPr/>
        </p:nvSpPr>
        <p:spPr>
          <a:xfrm>
            <a:off x="365760" y="3566160"/>
            <a:ext cx="73152" cy="1188720"/>
          </a:xfrm>
          <a:prstGeom prst="rect">
            <a:avLst/>
          </a:prstGeom>
          <a:solidFill>
            <a:srgbClr val="2563EB"/>
          </a:solidFill>
          <a:ln w="12700">
            <a:solidFill>
              <a:srgbClr val="2563EB"/>
            </a:solidFill>
            <a:prstDash val="solid"/>
          </a:ln>
        </p:spPr>
      </p:sp>
      <p:sp>
        <p:nvSpPr>
          <p:cNvPr id="16" name="Text 14"/>
          <p:cNvSpPr/>
          <p:nvPr/>
        </p:nvSpPr>
        <p:spPr>
          <a:xfrm>
            <a:off x="594360" y="3675888"/>
            <a:ext cx="7955280" cy="274320"/>
          </a:xfrm>
          <a:prstGeom prst="rect">
            <a:avLst/>
          </a:prstGeom>
          <a:noFill/>
        </p:spPr>
        <p:txBody>
          <a:bodyPr wrap="square" lIns="0" tIns="0" rIns="0" bIns="0"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The Core Challenge</a:t>
            </a:r>
            <a:endParaRPr lang="en-US" sz="1200" dirty="0"/>
          </a:p>
        </p:txBody>
      </p:sp>
      <p:sp>
        <p:nvSpPr>
          <p:cNvPr id="17" name="Text 15"/>
          <p:cNvSpPr/>
          <p:nvPr/>
        </p:nvSpPr>
        <p:spPr>
          <a:xfrm>
            <a:off x="594360" y="3950208"/>
            <a:ext cx="7955280" cy="685800"/>
          </a:xfrm>
          <a:prstGeom prst="rect">
            <a:avLst/>
          </a:prstGeom>
          <a:noFill/>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key requirement was making it domain-agnostic, meaning it must work for any type of project whether it is a fintech app, a healthcare tool, an e-commerce site, or an internal SaaS product without needing changes to the system itself.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How I Thought About Solving This</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22960"/>
            <a:ext cx="914400" cy="1097280"/>
          </a:xfrm>
          <a:prstGeom prst="rect">
            <a:avLst/>
          </a:prstGeom>
          <a:solidFill>
            <a:srgbClr val="2563EB"/>
          </a:solidFill>
          <a:ln w="12700">
            <a:solidFill>
              <a:srgbClr val="2563EB"/>
            </a:solidFill>
            <a:prstDash val="solid"/>
          </a:ln>
        </p:spPr>
      </p:sp>
      <p:sp>
        <p:nvSpPr>
          <p:cNvPr id="7" name="Text 5"/>
          <p:cNvSpPr/>
          <p:nvPr/>
        </p:nvSpPr>
        <p:spPr>
          <a:xfrm>
            <a:off x="365760" y="822960"/>
            <a:ext cx="914400" cy="1097280"/>
          </a:xfrm>
          <a:prstGeom prst="rect">
            <a:avLst/>
          </a:prstGeom>
          <a:noFill/>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01</a:t>
            </a:r>
            <a:endParaRPr lang="en-US" sz="2800" dirty="0"/>
          </a:p>
        </p:txBody>
      </p:sp>
      <p:sp>
        <p:nvSpPr>
          <p:cNvPr id="8" name="Shape 6"/>
          <p:cNvSpPr/>
          <p:nvPr/>
        </p:nvSpPr>
        <p:spPr>
          <a:xfrm>
            <a:off x="1371600" y="822960"/>
            <a:ext cx="7406640" cy="109728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9" name="Text 7"/>
          <p:cNvSpPr/>
          <p:nvPr/>
        </p:nvSpPr>
        <p:spPr>
          <a:xfrm>
            <a:off x="1554480" y="932688"/>
            <a:ext cx="7040880" cy="274320"/>
          </a:xfrm>
          <a:prstGeom prst="rect">
            <a:avLst/>
          </a:prstGeom>
          <a:noFill/>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Map the Real Delivery Team</a:t>
            </a:r>
            <a:endParaRPr lang="en-US" sz="1300" dirty="0"/>
          </a:p>
        </p:txBody>
      </p:sp>
      <p:sp>
        <p:nvSpPr>
          <p:cNvPr id="10" name="Text 8"/>
          <p:cNvSpPr/>
          <p:nvPr/>
        </p:nvSpPr>
        <p:spPr>
          <a:xfrm>
            <a:off x="1554480" y="1225296"/>
            <a:ext cx="7040880" cy="59436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This was part of the task given to me. I had already learned how a real software delivery team is structured, identifying every key role involved from idea to production, and understanding exactly what each role owns and hands off to the next.</a:t>
            </a:r>
            <a:endParaRPr lang="en-US" sz="1100" dirty="0">
              <a:solidFill>
                <a:srgbClr val="475569"/>
              </a:solidFill>
              <a:latin typeface="Calibri" pitchFamily="34" charset="0"/>
              <a:ea typeface="Calibri" pitchFamily="34" charset="-122"/>
              <a:cs typeface="Calibri" pitchFamily="34" charset="-120"/>
            </a:endParaRPr>
          </a:p>
        </p:txBody>
      </p:sp>
      <p:sp>
        <p:nvSpPr>
          <p:cNvPr id="11" name="Shape 9"/>
          <p:cNvSpPr/>
          <p:nvPr/>
        </p:nvSpPr>
        <p:spPr>
          <a:xfrm>
            <a:off x="365760" y="2194560"/>
            <a:ext cx="914400" cy="1097280"/>
          </a:xfrm>
          <a:prstGeom prst="rect">
            <a:avLst/>
          </a:prstGeom>
          <a:solidFill>
            <a:srgbClr val="2563EB"/>
          </a:solidFill>
          <a:ln w="12700">
            <a:solidFill>
              <a:srgbClr val="2563EB"/>
            </a:solidFill>
            <a:prstDash val="solid"/>
          </a:ln>
        </p:spPr>
      </p:sp>
      <p:sp>
        <p:nvSpPr>
          <p:cNvPr id="12" name="Text 10"/>
          <p:cNvSpPr/>
          <p:nvPr/>
        </p:nvSpPr>
        <p:spPr>
          <a:xfrm>
            <a:off x="365760" y="2194560"/>
            <a:ext cx="914400" cy="1097280"/>
          </a:xfrm>
          <a:prstGeom prst="rect">
            <a:avLst/>
          </a:prstGeom>
          <a:noFill/>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02</a:t>
            </a:r>
            <a:endParaRPr lang="en-US" sz="2800" dirty="0"/>
          </a:p>
        </p:txBody>
      </p:sp>
      <p:sp>
        <p:nvSpPr>
          <p:cNvPr id="13" name="Shape 11"/>
          <p:cNvSpPr/>
          <p:nvPr/>
        </p:nvSpPr>
        <p:spPr>
          <a:xfrm>
            <a:off x="1371600" y="2194560"/>
            <a:ext cx="7406640" cy="109728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4" name="Text 12"/>
          <p:cNvSpPr/>
          <p:nvPr/>
        </p:nvSpPr>
        <p:spPr>
          <a:xfrm>
            <a:off x="1554480" y="2304288"/>
            <a:ext cx="7040880" cy="274320"/>
          </a:xfrm>
          <a:prstGeom prst="rect">
            <a:avLst/>
          </a:prstGeom>
          <a:noFill/>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Design Each Role as a Prompt File</a:t>
            </a:r>
            <a:endParaRPr lang="en-US" sz="1300" dirty="0"/>
          </a:p>
        </p:txBody>
      </p:sp>
      <p:sp>
        <p:nvSpPr>
          <p:cNvPr id="15" name="Text 13"/>
          <p:cNvSpPr/>
          <p:nvPr/>
        </p:nvSpPr>
        <p:spPr>
          <a:xfrm>
            <a:off x="1554480" y="2596896"/>
            <a:ext cx="7040880" cy="59436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I then designed each role as an independent, reusable prompt file. Each file gives an AI clear instructions on how to behave as that role. what documents to read as input, what structured output to produce, and what it must never do.</a:t>
            </a:r>
            <a:endParaRPr lang="en-US" sz="1100" dirty="0"/>
          </a:p>
        </p:txBody>
      </p:sp>
      <p:sp>
        <p:nvSpPr>
          <p:cNvPr id="16" name="Shape 14"/>
          <p:cNvSpPr/>
          <p:nvPr/>
        </p:nvSpPr>
        <p:spPr>
          <a:xfrm>
            <a:off x="365760" y="3566160"/>
            <a:ext cx="914400" cy="1097280"/>
          </a:xfrm>
          <a:prstGeom prst="rect">
            <a:avLst/>
          </a:prstGeom>
          <a:solidFill>
            <a:srgbClr val="2563EB"/>
          </a:solidFill>
          <a:ln w="12700">
            <a:solidFill>
              <a:srgbClr val="2563EB"/>
            </a:solidFill>
            <a:prstDash val="solid"/>
          </a:ln>
        </p:spPr>
      </p:sp>
      <p:sp>
        <p:nvSpPr>
          <p:cNvPr id="17" name="Text 15"/>
          <p:cNvSpPr/>
          <p:nvPr/>
        </p:nvSpPr>
        <p:spPr>
          <a:xfrm>
            <a:off x="365760" y="3566160"/>
            <a:ext cx="914400" cy="1097280"/>
          </a:xfrm>
          <a:prstGeom prst="rect">
            <a:avLst/>
          </a:prstGeom>
          <a:noFill/>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03</a:t>
            </a:r>
            <a:endParaRPr lang="en-US" sz="2800" dirty="0"/>
          </a:p>
        </p:txBody>
      </p:sp>
      <p:sp>
        <p:nvSpPr>
          <p:cNvPr id="18" name="Shape 16"/>
          <p:cNvSpPr/>
          <p:nvPr/>
        </p:nvSpPr>
        <p:spPr>
          <a:xfrm>
            <a:off x="1371600" y="3566160"/>
            <a:ext cx="7406640" cy="109728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9" name="Text 17"/>
          <p:cNvSpPr/>
          <p:nvPr/>
        </p:nvSpPr>
        <p:spPr>
          <a:xfrm>
            <a:off x="1554480" y="3675888"/>
            <a:ext cx="7040880" cy="274320"/>
          </a:xfrm>
          <a:prstGeom prst="rect">
            <a:avLst/>
          </a:prstGeom>
          <a:noFill/>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Chain the Roles Into a Pipeline</a:t>
            </a:r>
            <a:endParaRPr lang="en-US" sz="1300" dirty="0"/>
          </a:p>
        </p:txBody>
      </p:sp>
      <p:sp>
        <p:nvSpPr>
          <p:cNvPr id="20" name="Text 18"/>
          <p:cNvSpPr/>
          <p:nvPr/>
        </p:nvSpPr>
        <p:spPr>
          <a:xfrm>
            <a:off x="1554480" y="3968496"/>
            <a:ext cx="7040880" cy="59436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 roles are chained together so the output of one becomes the input of the next. This creates a fully traceable pipeline where no information is lost between stages exactly like a real handoff between team members.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The Complete AI-Powered SDLC Team</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914400"/>
            <a:ext cx="1097280" cy="3474720"/>
          </a:xfrm>
          <a:prstGeom prst="rect">
            <a:avLst/>
          </a:prstGeom>
          <a:solidFill>
            <a:srgbClr val="DBEAFE"/>
          </a:solidFill>
          <a:ln w="25400">
            <a:solidFill>
              <a:srgbClr val="2563EB"/>
            </a:solidFill>
            <a:prstDash val="solid"/>
          </a:ln>
          <a:effectLst>
            <a:outerShdw blurRad="76200" dist="25400" dir="8100000" algn="bl" rotWithShape="0">
              <a:srgbClr val="000000">
                <a:alpha val="10000"/>
              </a:srgbClr>
            </a:outerShdw>
          </a:effectLst>
        </p:spPr>
      </p:sp>
      <p:sp>
        <p:nvSpPr>
          <p:cNvPr id="7" name="Shape 5"/>
          <p:cNvSpPr/>
          <p:nvPr/>
        </p:nvSpPr>
        <p:spPr>
          <a:xfrm>
            <a:off x="365760" y="914400"/>
            <a:ext cx="1097280" cy="594360"/>
          </a:xfrm>
          <a:prstGeom prst="rect">
            <a:avLst/>
          </a:prstGeom>
          <a:solidFill>
            <a:srgbClr val="2563EB"/>
          </a:solidFill>
          <a:ln w="12700">
            <a:solidFill>
              <a:srgbClr val="2563EB"/>
            </a:solidFill>
            <a:prstDash val="solid"/>
          </a:ln>
        </p:spPr>
      </p:sp>
      <p:sp>
        <p:nvSpPr>
          <p:cNvPr id="8" name="Text 6"/>
          <p:cNvSpPr/>
          <p:nvPr/>
        </p:nvSpPr>
        <p:spPr>
          <a:xfrm>
            <a:off x="36576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PM</a:t>
            </a:r>
            <a:endParaRPr lang="en-US" sz="1500" dirty="0"/>
          </a:p>
        </p:txBody>
      </p:sp>
      <p:sp>
        <p:nvSpPr>
          <p:cNvPr id="9" name="Text 7"/>
          <p:cNvSpPr/>
          <p:nvPr/>
        </p:nvSpPr>
        <p:spPr>
          <a:xfrm>
            <a:off x="411480" y="1481328"/>
            <a:ext cx="1005840" cy="658368"/>
          </a:xfrm>
          <a:prstGeom prst="rect">
            <a:avLst/>
          </a:prstGeom>
          <a:noFill/>
        </p:spPr>
        <p:txBody>
          <a:bodyPr wrap="square" lIns="0" tIns="0" rIns="0" bIns="0" rtlCol="0" anchor="ctr"/>
          <a:lstStyle/>
          <a:p>
            <a:pPr marL="0" indent="0" algn="ctr">
              <a:buNone/>
            </a:pPr>
            <a:r>
              <a:rPr lang="en-US" sz="900" b="1" dirty="0">
                <a:solidFill>
                  <a:srgbClr val="2563EB"/>
                </a:solidFill>
                <a:latin typeface="Trebuchet MS" pitchFamily="34" charset="0"/>
                <a:ea typeface="Trebuchet MS" pitchFamily="34" charset="-122"/>
                <a:cs typeface="Trebuchet MS" pitchFamily="34" charset="-120"/>
              </a:rPr>
              <a:t>Product</a:t>
            </a:r>
            <a:endParaRPr lang="en-US" sz="900" dirty="0"/>
          </a:p>
          <a:p>
            <a:pPr marL="0" indent="0" algn="ctr">
              <a:buNone/>
            </a:pPr>
            <a:r>
              <a:rPr lang="en-US" sz="900" b="1" dirty="0">
                <a:solidFill>
                  <a:srgbClr val="2563EB"/>
                </a:solidFill>
                <a:latin typeface="Trebuchet MS" pitchFamily="34" charset="0"/>
                <a:ea typeface="Trebuchet MS" pitchFamily="34" charset="-122"/>
                <a:cs typeface="Trebuchet MS" pitchFamily="34" charset="-120"/>
              </a:rPr>
              <a:t>Manager</a:t>
            </a:r>
            <a:endParaRPr lang="en-US" sz="900" dirty="0"/>
          </a:p>
        </p:txBody>
      </p:sp>
      <p:sp>
        <p:nvSpPr>
          <p:cNvPr id="10" name="Shape 8"/>
          <p:cNvSpPr/>
          <p:nvPr/>
        </p:nvSpPr>
        <p:spPr>
          <a:xfrm>
            <a:off x="457200" y="2148840"/>
            <a:ext cx="914400" cy="18288"/>
          </a:xfrm>
          <a:prstGeom prst="rect">
            <a:avLst/>
          </a:prstGeom>
          <a:solidFill>
            <a:srgbClr val="2563EB"/>
          </a:solidFill>
          <a:ln w="12700">
            <a:solidFill>
              <a:srgbClr val="2563EB"/>
            </a:solidFill>
            <a:prstDash val="solid"/>
          </a:ln>
        </p:spPr>
      </p:sp>
      <p:sp>
        <p:nvSpPr>
          <p:cNvPr id="11" name="Text 9"/>
          <p:cNvSpPr/>
          <p:nvPr/>
        </p:nvSpPr>
        <p:spPr>
          <a:xfrm>
            <a:off x="41148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Reads raw requirements and produces a structured PRD with goals, priorities, scope, and stakeholders.</a:t>
            </a:r>
            <a:endParaRPr lang="en-US" sz="1000" dirty="0"/>
          </a:p>
        </p:txBody>
      </p:sp>
      <p:sp>
        <p:nvSpPr>
          <p:cNvPr id="12" name="Text 10"/>
          <p:cNvSpPr/>
          <p:nvPr/>
        </p:nvSpPr>
        <p:spPr>
          <a:xfrm>
            <a:off x="148132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1600200" y="914400"/>
            <a:ext cx="1097280" cy="3474720"/>
          </a:xfrm>
          <a:prstGeom prst="rect">
            <a:avLst/>
          </a:prstGeom>
          <a:solidFill>
            <a:srgbClr val="E0E7FF"/>
          </a:solidFill>
          <a:ln w="25400">
            <a:solidFill>
              <a:srgbClr val="6366F1"/>
            </a:solidFill>
            <a:prstDash val="solid"/>
          </a:ln>
          <a:effectLst>
            <a:outerShdw blurRad="76200" dist="25400" dir="8100000" algn="bl" rotWithShape="0">
              <a:srgbClr val="000000">
                <a:alpha val="10000"/>
              </a:srgbClr>
            </a:outerShdw>
          </a:effectLst>
        </p:spPr>
      </p:sp>
      <p:sp>
        <p:nvSpPr>
          <p:cNvPr id="14" name="Shape 12"/>
          <p:cNvSpPr/>
          <p:nvPr/>
        </p:nvSpPr>
        <p:spPr>
          <a:xfrm>
            <a:off x="1600200" y="914400"/>
            <a:ext cx="1097280" cy="594360"/>
          </a:xfrm>
          <a:prstGeom prst="rect">
            <a:avLst/>
          </a:prstGeom>
          <a:solidFill>
            <a:srgbClr val="6366F1"/>
          </a:solidFill>
          <a:ln w="12700">
            <a:solidFill>
              <a:srgbClr val="6366F1"/>
            </a:solidFill>
            <a:prstDash val="solid"/>
          </a:ln>
        </p:spPr>
      </p:sp>
      <p:sp>
        <p:nvSpPr>
          <p:cNvPr id="15" name="Text 13"/>
          <p:cNvSpPr/>
          <p:nvPr/>
        </p:nvSpPr>
        <p:spPr>
          <a:xfrm>
            <a:off x="160020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BA</a:t>
            </a:r>
            <a:endParaRPr lang="en-US" sz="1500" dirty="0"/>
          </a:p>
        </p:txBody>
      </p:sp>
      <p:sp>
        <p:nvSpPr>
          <p:cNvPr id="16" name="Text 14"/>
          <p:cNvSpPr/>
          <p:nvPr/>
        </p:nvSpPr>
        <p:spPr>
          <a:xfrm>
            <a:off x="1645920" y="1481328"/>
            <a:ext cx="1005840" cy="658368"/>
          </a:xfrm>
          <a:prstGeom prst="rect">
            <a:avLst/>
          </a:prstGeom>
          <a:noFill/>
        </p:spPr>
        <p:txBody>
          <a:bodyPr wrap="square" lIns="0" tIns="0" rIns="0" bIns="0" rtlCol="0" anchor="ctr"/>
          <a:lstStyle/>
          <a:p>
            <a:pPr marL="0" indent="0" algn="ctr">
              <a:buNone/>
            </a:pPr>
            <a:r>
              <a:rPr lang="en-US" sz="900" b="1" dirty="0">
                <a:solidFill>
                  <a:srgbClr val="6366F1"/>
                </a:solidFill>
                <a:latin typeface="Trebuchet MS" pitchFamily="34" charset="0"/>
                <a:ea typeface="Trebuchet MS" pitchFamily="34" charset="-122"/>
                <a:cs typeface="Trebuchet MS" pitchFamily="34" charset="-120"/>
              </a:rPr>
              <a:t>Business</a:t>
            </a:r>
            <a:endParaRPr lang="en-US" sz="900" dirty="0"/>
          </a:p>
          <a:p>
            <a:pPr marL="0" indent="0" algn="ctr">
              <a:buNone/>
            </a:pPr>
            <a:r>
              <a:rPr lang="en-US" sz="900" b="1" dirty="0">
                <a:solidFill>
                  <a:srgbClr val="6366F1"/>
                </a:solidFill>
                <a:latin typeface="Trebuchet MS" pitchFamily="34" charset="0"/>
                <a:ea typeface="Trebuchet MS" pitchFamily="34" charset="-122"/>
                <a:cs typeface="Trebuchet MS" pitchFamily="34" charset="-120"/>
              </a:rPr>
              <a:t>Analyst</a:t>
            </a:r>
            <a:endParaRPr lang="en-US" sz="900" dirty="0"/>
          </a:p>
        </p:txBody>
      </p:sp>
      <p:sp>
        <p:nvSpPr>
          <p:cNvPr id="17" name="Shape 15"/>
          <p:cNvSpPr/>
          <p:nvPr/>
        </p:nvSpPr>
        <p:spPr>
          <a:xfrm>
            <a:off x="1691640" y="2148840"/>
            <a:ext cx="914400" cy="18288"/>
          </a:xfrm>
          <a:prstGeom prst="rect">
            <a:avLst/>
          </a:prstGeom>
          <a:solidFill>
            <a:srgbClr val="6366F1"/>
          </a:solidFill>
          <a:ln w="12700">
            <a:solidFill>
              <a:srgbClr val="6366F1"/>
            </a:solidFill>
            <a:prstDash val="solid"/>
          </a:ln>
        </p:spPr>
      </p:sp>
      <p:sp>
        <p:nvSpPr>
          <p:cNvPr id="18" name="Text 16"/>
          <p:cNvSpPr/>
          <p:nvPr/>
        </p:nvSpPr>
        <p:spPr>
          <a:xfrm>
            <a:off x="164592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Converts product goals into detailed user stories with acceptance criteria and business rules.</a:t>
            </a:r>
            <a:endParaRPr lang="en-US" sz="1000" dirty="0"/>
          </a:p>
        </p:txBody>
      </p:sp>
      <p:sp>
        <p:nvSpPr>
          <p:cNvPr id="19" name="Text 17"/>
          <p:cNvSpPr/>
          <p:nvPr/>
        </p:nvSpPr>
        <p:spPr>
          <a:xfrm>
            <a:off x="271576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2834640" y="914400"/>
            <a:ext cx="1097280" cy="3474720"/>
          </a:xfrm>
          <a:prstGeom prst="rect">
            <a:avLst/>
          </a:prstGeom>
          <a:solidFill>
            <a:srgbClr val="EDE9FE"/>
          </a:solidFill>
          <a:ln w="25400">
            <a:solidFill>
              <a:srgbClr val="8B5CF6"/>
            </a:solidFill>
            <a:prstDash val="solid"/>
          </a:ln>
          <a:effectLst>
            <a:outerShdw blurRad="76200" dist="25400" dir="8100000" algn="bl" rotWithShape="0">
              <a:srgbClr val="000000">
                <a:alpha val="10000"/>
              </a:srgbClr>
            </a:outerShdw>
          </a:effectLst>
        </p:spPr>
      </p:sp>
      <p:sp>
        <p:nvSpPr>
          <p:cNvPr id="21" name="Shape 19"/>
          <p:cNvSpPr/>
          <p:nvPr/>
        </p:nvSpPr>
        <p:spPr>
          <a:xfrm>
            <a:off x="2834640" y="914400"/>
            <a:ext cx="1097280" cy="594360"/>
          </a:xfrm>
          <a:prstGeom prst="rect">
            <a:avLst/>
          </a:prstGeom>
          <a:solidFill>
            <a:srgbClr val="8B5CF6"/>
          </a:solidFill>
          <a:ln w="12700">
            <a:solidFill>
              <a:srgbClr val="8B5CF6"/>
            </a:solidFill>
            <a:prstDash val="solid"/>
          </a:ln>
        </p:spPr>
      </p:sp>
      <p:sp>
        <p:nvSpPr>
          <p:cNvPr id="22" name="Text 20"/>
          <p:cNvSpPr/>
          <p:nvPr/>
        </p:nvSpPr>
        <p:spPr>
          <a:xfrm>
            <a:off x="283464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UX</a:t>
            </a:r>
            <a:endParaRPr lang="en-US" sz="1500" dirty="0"/>
          </a:p>
        </p:txBody>
      </p:sp>
      <p:sp>
        <p:nvSpPr>
          <p:cNvPr id="23" name="Text 21"/>
          <p:cNvSpPr/>
          <p:nvPr/>
        </p:nvSpPr>
        <p:spPr>
          <a:xfrm>
            <a:off x="2880360" y="1481328"/>
            <a:ext cx="1005840" cy="658368"/>
          </a:xfrm>
          <a:prstGeom prst="rect">
            <a:avLst/>
          </a:prstGeom>
          <a:noFill/>
        </p:spPr>
        <p:txBody>
          <a:bodyPr wrap="square" lIns="0" tIns="0" rIns="0" bIns="0" rtlCol="0" anchor="ctr"/>
          <a:lstStyle/>
          <a:p>
            <a:pPr marL="0" indent="0" algn="ctr">
              <a:buNone/>
            </a:pPr>
            <a:r>
              <a:rPr lang="en-US" sz="900" b="1" dirty="0">
                <a:solidFill>
                  <a:srgbClr val="8B5CF6"/>
                </a:solidFill>
                <a:latin typeface="Trebuchet MS" pitchFamily="34" charset="0"/>
                <a:ea typeface="Trebuchet MS" pitchFamily="34" charset="-122"/>
                <a:cs typeface="Trebuchet MS" pitchFamily="34" charset="-120"/>
              </a:rPr>
              <a:t>UI/UX</a:t>
            </a:r>
            <a:endParaRPr lang="en-US" sz="900" dirty="0"/>
          </a:p>
          <a:p>
            <a:pPr marL="0" indent="0" algn="ctr">
              <a:buNone/>
            </a:pPr>
            <a:r>
              <a:rPr lang="en-US" sz="900" b="1" dirty="0">
                <a:solidFill>
                  <a:srgbClr val="8B5CF6"/>
                </a:solidFill>
                <a:latin typeface="Trebuchet MS" pitchFamily="34" charset="0"/>
                <a:ea typeface="Trebuchet MS" pitchFamily="34" charset="-122"/>
                <a:cs typeface="Trebuchet MS" pitchFamily="34" charset="-120"/>
              </a:rPr>
              <a:t>Designer</a:t>
            </a:r>
            <a:endParaRPr lang="en-US" sz="900" dirty="0"/>
          </a:p>
        </p:txBody>
      </p:sp>
      <p:sp>
        <p:nvSpPr>
          <p:cNvPr id="24" name="Shape 22"/>
          <p:cNvSpPr/>
          <p:nvPr/>
        </p:nvSpPr>
        <p:spPr>
          <a:xfrm>
            <a:off x="2926080" y="2148840"/>
            <a:ext cx="914400" cy="18288"/>
          </a:xfrm>
          <a:prstGeom prst="rect">
            <a:avLst/>
          </a:prstGeom>
          <a:solidFill>
            <a:srgbClr val="8B5CF6"/>
          </a:solidFill>
          <a:ln w="12700">
            <a:solidFill>
              <a:srgbClr val="8B5CF6"/>
            </a:solidFill>
            <a:prstDash val="solid"/>
          </a:ln>
        </p:spPr>
      </p:sp>
      <p:sp>
        <p:nvSpPr>
          <p:cNvPr id="25" name="Text 23"/>
          <p:cNvSpPr/>
          <p:nvPr/>
        </p:nvSpPr>
        <p:spPr>
          <a:xfrm>
            <a:off x="288036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Accepts design images and produces a written Design Specification with layouts and user flows.</a:t>
            </a:r>
            <a:endParaRPr lang="en-US" sz="1000" dirty="0"/>
          </a:p>
        </p:txBody>
      </p:sp>
      <p:sp>
        <p:nvSpPr>
          <p:cNvPr id="26" name="Text 24"/>
          <p:cNvSpPr/>
          <p:nvPr/>
        </p:nvSpPr>
        <p:spPr>
          <a:xfrm>
            <a:off x="395020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4069080" y="914400"/>
            <a:ext cx="1097280" cy="3474720"/>
          </a:xfrm>
          <a:prstGeom prst="rect">
            <a:avLst/>
          </a:prstGeom>
          <a:solidFill>
            <a:srgbClr val="CFFAFE"/>
          </a:solidFill>
          <a:ln w="25400">
            <a:solidFill>
              <a:srgbClr val="0891B2"/>
            </a:solidFill>
            <a:prstDash val="solid"/>
          </a:ln>
          <a:effectLst>
            <a:outerShdw blurRad="76200" dist="25400" dir="8100000" algn="bl" rotWithShape="0">
              <a:srgbClr val="000000">
                <a:alpha val="10000"/>
              </a:srgbClr>
            </a:outerShdw>
          </a:effectLst>
        </p:spPr>
      </p:sp>
      <p:sp>
        <p:nvSpPr>
          <p:cNvPr id="28" name="Shape 26"/>
          <p:cNvSpPr/>
          <p:nvPr/>
        </p:nvSpPr>
        <p:spPr>
          <a:xfrm>
            <a:off x="4069080" y="914400"/>
            <a:ext cx="1097280" cy="594360"/>
          </a:xfrm>
          <a:prstGeom prst="rect">
            <a:avLst/>
          </a:prstGeom>
          <a:solidFill>
            <a:srgbClr val="0891B2"/>
          </a:solidFill>
          <a:ln w="12700">
            <a:solidFill>
              <a:srgbClr val="0891B2"/>
            </a:solidFill>
            <a:prstDash val="solid"/>
          </a:ln>
        </p:spPr>
      </p:sp>
      <p:sp>
        <p:nvSpPr>
          <p:cNvPr id="29" name="Text 27"/>
          <p:cNvSpPr/>
          <p:nvPr/>
        </p:nvSpPr>
        <p:spPr>
          <a:xfrm>
            <a:off x="406908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ENG</a:t>
            </a:r>
            <a:endParaRPr lang="en-US" sz="1500" dirty="0"/>
          </a:p>
        </p:txBody>
      </p:sp>
      <p:sp>
        <p:nvSpPr>
          <p:cNvPr id="30" name="Text 28"/>
          <p:cNvSpPr/>
          <p:nvPr/>
        </p:nvSpPr>
        <p:spPr>
          <a:xfrm>
            <a:off x="4114800" y="1481328"/>
            <a:ext cx="1005840" cy="658368"/>
          </a:xfrm>
          <a:prstGeom prst="rect">
            <a:avLst/>
          </a:prstGeom>
          <a:noFill/>
        </p:spPr>
        <p:txBody>
          <a:bodyPr wrap="square" lIns="0" tIns="0" rIns="0" bIns="0" rtlCol="0" anchor="ctr"/>
          <a:lstStyle/>
          <a:p>
            <a:pPr marL="0" indent="0" algn="ctr">
              <a:buNone/>
            </a:pPr>
            <a:r>
              <a:rPr lang="en-US" sz="900" b="1" dirty="0">
                <a:solidFill>
                  <a:srgbClr val="0891B2"/>
                </a:solidFill>
                <a:latin typeface="Trebuchet MS" pitchFamily="34" charset="0"/>
                <a:ea typeface="Trebuchet MS" pitchFamily="34" charset="-122"/>
                <a:cs typeface="Trebuchet MS" pitchFamily="34" charset="-120"/>
              </a:rPr>
              <a:t>Engineer /</a:t>
            </a:r>
            <a:endParaRPr lang="en-US" sz="900" dirty="0"/>
          </a:p>
          <a:p>
            <a:pPr marL="0" indent="0" algn="ctr">
              <a:buNone/>
            </a:pPr>
            <a:r>
              <a:rPr lang="en-US" sz="900" b="1" dirty="0">
                <a:solidFill>
                  <a:srgbClr val="0891B2"/>
                </a:solidFill>
                <a:latin typeface="Trebuchet MS" pitchFamily="34" charset="0"/>
                <a:ea typeface="Trebuchet MS" pitchFamily="34" charset="-122"/>
                <a:cs typeface="Trebuchet MS" pitchFamily="34" charset="-120"/>
              </a:rPr>
              <a:t>Architect</a:t>
            </a:r>
            <a:endParaRPr lang="en-US" sz="900" dirty="0"/>
          </a:p>
        </p:txBody>
      </p:sp>
      <p:sp>
        <p:nvSpPr>
          <p:cNvPr id="31" name="Shape 29"/>
          <p:cNvSpPr/>
          <p:nvPr/>
        </p:nvSpPr>
        <p:spPr>
          <a:xfrm>
            <a:off x="4160520" y="2148840"/>
            <a:ext cx="914400" cy="18288"/>
          </a:xfrm>
          <a:prstGeom prst="rect">
            <a:avLst/>
          </a:prstGeom>
          <a:solidFill>
            <a:srgbClr val="0891B2"/>
          </a:solidFill>
          <a:ln w="12700">
            <a:solidFill>
              <a:srgbClr val="0891B2"/>
            </a:solidFill>
            <a:prstDash val="solid"/>
          </a:ln>
        </p:spPr>
      </p:sp>
      <p:sp>
        <p:nvSpPr>
          <p:cNvPr id="32" name="Text 30"/>
          <p:cNvSpPr/>
          <p:nvPr/>
        </p:nvSpPr>
        <p:spPr>
          <a:xfrm>
            <a:off x="411480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Designs the full technical solutionAPIs, database schema, architecture, and tech stack.</a:t>
            </a:r>
            <a:endParaRPr lang="en-US" sz="1000" dirty="0"/>
          </a:p>
        </p:txBody>
      </p:sp>
      <p:sp>
        <p:nvSpPr>
          <p:cNvPr id="33" name="Text 31"/>
          <p:cNvSpPr/>
          <p:nvPr/>
        </p:nvSpPr>
        <p:spPr>
          <a:xfrm>
            <a:off x="518464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5303520" y="914400"/>
            <a:ext cx="1097280" cy="3474720"/>
          </a:xfrm>
          <a:prstGeom prst="rect">
            <a:avLst/>
          </a:prstGeom>
          <a:solidFill>
            <a:srgbClr val="D1FAE5"/>
          </a:solidFill>
          <a:ln w="25400">
            <a:solidFill>
              <a:srgbClr val="059669"/>
            </a:solidFill>
            <a:prstDash val="solid"/>
          </a:ln>
          <a:effectLst>
            <a:outerShdw blurRad="76200" dist="25400" dir="8100000" algn="bl" rotWithShape="0">
              <a:srgbClr val="000000">
                <a:alpha val="10000"/>
              </a:srgbClr>
            </a:outerShdw>
          </a:effectLst>
        </p:spPr>
      </p:sp>
      <p:sp>
        <p:nvSpPr>
          <p:cNvPr id="35" name="Shape 33"/>
          <p:cNvSpPr/>
          <p:nvPr/>
        </p:nvSpPr>
        <p:spPr>
          <a:xfrm>
            <a:off x="5303520" y="914400"/>
            <a:ext cx="1097280" cy="594360"/>
          </a:xfrm>
          <a:prstGeom prst="rect">
            <a:avLst/>
          </a:prstGeom>
          <a:solidFill>
            <a:srgbClr val="059669"/>
          </a:solidFill>
          <a:ln w="12700">
            <a:solidFill>
              <a:srgbClr val="059669"/>
            </a:solidFill>
            <a:prstDash val="solid"/>
          </a:ln>
        </p:spPr>
      </p:sp>
      <p:sp>
        <p:nvSpPr>
          <p:cNvPr id="36" name="Text 34"/>
          <p:cNvSpPr/>
          <p:nvPr/>
        </p:nvSpPr>
        <p:spPr>
          <a:xfrm>
            <a:off x="530352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QA</a:t>
            </a:r>
            <a:endParaRPr lang="en-US" sz="1500" dirty="0"/>
          </a:p>
        </p:txBody>
      </p:sp>
      <p:sp>
        <p:nvSpPr>
          <p:cNvPr id="37" name="Text 35"/>
          <p:cNvSpPr/>
          <p:nvPr/>
        </p:nvSpPr>
        <p:spPr>
          <a:xfrm>
            <a:off x="5349240" y="1481328"/>
            <a:ext cx="1005840" cy="658368"/>
          </a:xfrm>
          <a:prstGeom prst="rect">
            <a:avLst/>
          </a:prstGeom>
          <a:noFill/>
        </p:spPr>
        <p:txBody>
          <a:bodyPr wrap="square" lIns="0" tIns="0" rIns="0" bIns="0" rtlCol="0" anchor="ctr"/>
          <a:lstStyle/>
          <a:p>
            <a:pPr marL="0" indent="0" algn="ctr">
              <a:buNone/>
            </a:pPr>
            <a:r>
              <a:rPr lang="en-US" sz="900" b="1" dirty="0">
                <a:solidFill>
                  <a:srgbClr val="059669"/>
                </a:solidFill>
                <a:latin typeface="Trebuchet MS" pitchFamily="34" charset="0"/>
                <a:ea typeface="Trebuchet MS" pitchFamily="34" charset="-122"/>
                <a:cs typeface="Trebuchet MS" pitchFamily="34" charset="-120"/>
              </a:rPr>
              <a:t>Quality</a:t>
            </a:r>
            <a:endParaRPr lang="en-US" sz="900" dirty="0"/>
          </a:p>
          <a:p>
            <a:pPr marL="0" indent="0" algn="ctr">
              <a:buNone/>
            </a:pPr>
            <a:r>
              <a:rPr lang="en-US" sz="900" b="1" dirty="0">
                <a:solidFill>
                  <a:srgbClr val="059669"/>
                </a:solidFill>
                <a:latin typeface="Trebuchet MS" pitchFamily="34" charset="0"/>
                <a:ea typeface="Trebuchet MS" pitchFamily="34" charset="-122"/>
                <a:cs typeface="Trebuchet MS" pitchFamily="34" charset="-120"/>
              </a:rPr>
              <a:t>Assurance</a:t>
            </a:r>
            <a:endParaRPr lang="en-US" sz="900" dirty="0"/>
          </a:p>
        </p:txBody>
      </p:sp>
      <p:sp>
        <p:nvSpPr>
          <p:cNvPr id="38" name="Shape 36"/>
          <p:cNvSpPr/>
          <p:nvPr/>
        </p:nvSpPr>
        <p:spPr>
          <a:xfrm>
            <a:off x="5394960" y="2148840"/>
            <a:ext cx="914400" cy="18288"/>
          </a:xfrm>
          <a:prstGeom prst="rect">
            <a:avLst/>
          </a:prstGeom>
          <a:solidFill>
            <a:srgbClr val="059669"/>
          </a:solidFill>
          <a:ln w="12700">
            <a:solidFill>
              <a:srgbClr val="059669"/>
            </a:solidFill>
            <a:prstDash val="solid"/>
          </a:ln>
        </p:spPr>
      </p:sp>
      <p:sp>
        <p:nvSpPr>
          <p:cNvPr id="39" name="Text 37"/>
          <p:cNvSpPr/>
          <p:nvPr/>
        </p:nvSpPr>
        <p:spPr>
          <a:xfrm>
            <a:off x="534924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Writes a complete test plan with functional, API, and UI test cases mapped to acceptance criteria.</a:t>
            </a:r>
            <a:endParaRPr lang="en-US" sz="1000" dirty="0"/>
          </a:p>
        </p:txBody>
      </p:sp>
      <p:sp>
        <p:nvSpPr>
          <p:cNvPr id="40" name="Text 38"/>
          <p:cNvSpPr/>
          <p:nvPr/>
        </p:nvSpPr>
        <p:spPr>
          <a:xfrm>
            <a:off x="641908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41" name="Shape 39"/>
          <p:cNvSpPr/>
          <p:nvPr/>
        </p:nvSpPr>
        <p:spPr>
          <a:xfrm>
            <a:off x="6537960" y="914400"/>
            <a:ext cx="1097280" cy="3474720"/>
          </a:xfrm>
          <a:prstGeom prst="rect">
            <a:avLst/>
          </a:prstGeom>
          <a:solidFill>
            <a:srgbClr val="FEF3C7"/>
          </a:solidFill>
          <a:ln w="25400">
            <a:solidFill>
              <a:srgbClr val="D97706"/>
            </a:solidFill>
            <a:prstDash val="solid"/>
          </a:ln>
          <a:effectLst>
            <a:outerShdw blurRad="76200" dist="25400" dir="8100000" algn="bl" rotWithShape="0">
              <a:srgbClr val="000000">
                <a:alpha val="10000"/>
              </a:srgbClr>
            </a:outerShdw>
          </a:effectLst>
        </p:spPr>
      </p:sp>
      <p:sp>
        <p:nvSpPr>
          <p:cNvPr id="42" name="Shape 40"/>
          <p:cNvSpPr/>
          <p:nvPr/>
        </p:nvSpPr>
        <p:spPr>
          <a:xfrm>
            <a:off x="6537960" y="914400"/>
            <a:ext cx="1097280" cy="594360"/>
          </a:xfrm>
          <a:prstGeom prst="rect">
            <a:avLst/>
          </a:prstGeom>
          <a:solidFill>
            <a:srgbClr val="D97706"/>
          </a:solidFill>
          <a:ln w="12700">
            <a:solidFill>
              <a:srgbClr val="D97706"/>
            </a:solidFill>
            <a:prstDash val="solid"/>
          </a:ln>
        </p:spPr>
      </p:sp>
      <p:sp>
        <p:nvSpPr>
          <p:cNvPr id="43" name="Text 41"/>
          <p:cNvSpPr/>
          <p:nvPr/>
        </p:nvSpPr>
        <p:spPr>
          <a:xfrm>
            <a:off x="653796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DevOps</a:t>
            </a:r>
            <a:endParaRPr lang="en-US" sz="1500" dirty="0"/>
          </a:p>
        </p:txBody>
      </p:sp>
      <p:sp>
        <p:nvSpPr>
          <p:cNvPr id="44" name="Text 42"/>
          <p:cNvSpPr/>
          <p:nvPr/>
        </p:nvSpPr>
        <p:spPr>
          <a:xfrm>
            <a:off x="6583680" y="1481328"/>
            <a:ext cx="1005840" cy="658368"/>
          </a:xfrm>
          <a:prstGeom prst="rect">
            <a:avLst/>
          </a:prstGeom>
          <a:noFill/>
        </p:spPr>
        <p:txBody>
          <a:bodyPr wrap="square" lIns="0" tIns="0" rIns="0" bIns="0" rtlCol="0" anchor="ctr"/>
          <a:lstStyle/>
          <a:p>
            <a:pPr marL="0" indent="0" algn="ctr">
              <a:buNone/>
            </a:pPr>
            <a:r>
              <a:rPr lang="en-US" sz="900" b="1" dirty="0">
                <a:solidFill>
                  <a:srgbClr val="D97706"/>
                </a:solidFill>
                <a:latin typeface="Trebuchet MS" pitchFamily="34" charset="0"/>
                <a:ea typeface="Trebuchet MS" pitchFamily="34" charset="-122"/>
                <a:cs typeface="Trebuchet MS" pitchFamily="34" charset="-120"/>
              </a:rPr>
              <a:t>DevOps</a:t>
            </a:r>
            <a:endParaRPr lang="en-US" sz="900" dirty="0"/>
          </a:p>
          <a:p>
            <a:pPr marL="0" indent="0" algn="ctr">
              <a:buNone/>
            </a:pPr>
            <a:r>
              <a:rPr lang="en-US" sz="900" b="1" dirty="0">
                <a:solidFill>
                  <a:srgbClr val="D97706"/>
                </a:solidFill>
                <a:latin typeface="Trebuchet MS" pitchFamily="34" charset="0"/>
                <a:ea typeface="Trebuchet MS" pitchFamily="34" charset="-122"/>
                <a:cs typeface="Trebuchet MS" pitchFamily="34" charset="-120"/>
              </a:rPr>
              <a:t>Engineer</a:t>
            </a:r>
            <a:endParaRPr lang="en-US" sz="900" dirty="0"/>
          </a:p>
        </p:txBody>
      </p:sp>
      <p:sp>
        <p:nvSpPr>
          <p:cNvPr id="45" name="Shape 43"/>
          <p:cNvSpPr/>
          <p:nvPr/>
        </p:nvSpPr>
        <p:spPr>
          <a:xfrm>
            <a:off x="6629400" y="2148840"/>
            <a:ext cx="914400" cy="18288"/>
          </a:xfrm>
          <a:prstGeom prst="rect">
            <a:avLst/>
          </a:prstGeom>
          <a:solidFill>
            <a:srgbClr val="D97706"/>
          </a:solidFill>
          <a:ln w="12700">
            <a:solidFill>
              <a:srgbClr val="D97706"/>
            </a:solidFill>
            <a:prstDash val="solid"/>
          </a:ln>
        </p:spPr>
      </p:sp>
      <p:sp>
        <p:nvSpPr>
          <p:cNvPr id="46" name="Text 44"/>
          <p:cNvSpPr/>
          <p:nvPr/>
        </p:nvSpPr>
        <p:spPr>
          <a:xfrm>
            <a:off x="658368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Plans infrastructure, CI/CD pipeline, environment strategy, monitoring, and deployment approach.</a:t>
            </a:r>
            <a:endParaRPr lang="en-US" sz="1000" dirty="0"/>
          </a:p>
        </p:txBody>
      </p:sp>
      <p:sp>
        <p:nvSpPr>
          <p:cNvPr id="47" name="Text 45"/>
          <p:cNvSpPr/>
          <p:nvPr/>
        </p:nvSpPr>
        <p:spPr>
          <a:xfrm>
            <a:off x="7653528" y="2468880"/>
            <a:ext cx="109728" cy="365760"/>
          </a:xfrm>
          <a:prstGeom prst="rect">
            <a:avLst/>
          </a:prstGeom>
          <a:noFill/>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7772400" y="914400"/>
            <a:ext cx="1097280" cy="3474720"/>
          </a:xfrm>
          <a:prstGeom prst="rect">
            <a:avLst/>
          </a:prstGeom>
          <a:solidFill>
            <a:srgbClr val="FEE2E2"/>
          </a:solidFill>
          <a:ln w="25400">
            <a:solidFill>
              <a:srgbClr val="DC2626"/>
            </a:solidFill>
            <a:prstDash val="solid"/>
          </a:ln>
          <a:effectLst>
            <a:outerShdw blurRad="76200" dist="25400" dir="8100000" algn="bl" rotWithShape="0">
              <a:srgbClr val="000000">
                <a:alpha val="10000"/>
              </a:srgbClr>
            </a:outerShdw>
          </a:effectLst>
        </p:spPr>
      </p:sp>
      <p:sp>
        <p:nvSpPr>
          <p:cNvPr id="49" name="Shape 47"/>
          <p:cNvSpPr/>
          <p:nvPr/>
        </p:nvSpPr>
        <p:spPr>
          <a:xfrm>
            <a:off x="7772400" y="914400"/>
            <a:ext cx="1097280" cy="594360"/>
          </a:xfrm>
          <a:prstGeom prst="rect">
            <a:avLst/>
          </a:prstGeom>
          <a:solidFill>
            <a:srgbClr val="DC2626"/>
          </a:solidFill>
          <a:ln w="12700">
            <a:solidFill>
              <a:srgbClr val="DC2626"/>
            </a:solidFill>
            <a:prstDash val="solid"/>
          </a:ln>
        </p:spPr>
      </p:sp>
      <p:sp>
        <p:nvSpPr>
          <p:cNvPr id="50" name="Text 48"/>
          <p:cNvSpPr/>
          <p:nvPr/>
        </p:nvSpPr>
        <p:spPr>
          <a:xfrm>
            <a:off x="7772400" y="914400"/>
            <a:ext cx="1097280" cy="384048"/>
          </a:xfrm>
          <a:prstGeom prst="rect">
            <a:avLst/>
          </a:prstGeom>
          <a:noFill/>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CODE</a:t>
            </a:r>
            <a:endParaRPr lang="en-US" sz="1500" dirty="0"/>
          </a:p>
        </p:txBody>
      </p:sp>
      <p:sp>
        <p:nvSpPr>
          <p:cNvPr id="51" name="Text 49"/>
          <p:cNvSpPr/>
          <p:nvPr/>
        </p:nvSpPr>
        <p:spPr>
          <a:xfrm>
            <a:off x="7818120" y="1481328"/>
            <a:ext cx="1005840" cy="658368"/>
          </a:xfrm>
          <a:prstGeom prst="rect">
            <a:avLst/>
          </a:prstGeom>
          <a:noFill/>
        </p:spPr>
        <p:txBody>
          <a:bodyPr wrap="square" lIns="0" tIns="0" rIns="0" bIns="0" rtlCol="0" anchor="ctr"/>
          <a:lstStyle/>
          <a:p>
            <a:pPr marL="0" indent="0" algn="ctr">
              <a:buNone/>
            </a:pPr>
            <a:r>
              <a:rPr lang="en-US" sz="900" b="1" dirty="0">
                <a:solidFill>
                  <a:srgbClr val="DC2626"/>
                </a:solidFill>
                <a:latin typeface="Trebuchet MS" pitchFamily="34" charset="0"/>
                <a:ea typeface="Trebuchet MS" pitchFamily="34" charset="-122"/>
                <a:cs typeface="Trebuchet MS" pitchFamily="34" charset="-120"/>
              </a:rPr>
              <a:t>Code</a:t>
            </a:r>
            <a:endParaRPr lang="en-US" sz="900" dirty="0"/>
          </a:p>
          <a:p>
            <a:pPr marL="0" indent="0" algn="ctr">
              <a:buNone/>
            </a:pPr>
            <a:r>
              <a:rPr lang="en-US" sz="900" b="1" dirty="0">
                <a:solidFill>
                  <a:srgbClr val="DC2626"/>
                </a:solidFill>
                <a:latin typeface="Trebuchet MS" pitchFamily="34" charset="0"/>
                <a:ea typeface="Trebuchet MS" pitchFamily="34" charset="-122"/>
                <a:cs typeface="Trebuchet MS" pitchFamily="34" charset="-120"/>
              </a:rPr>
              <a:t>Generator</a:t>
            </a:r>
            <a:endParaRPr lang="en-US" sz="900" dirty="0"/>
          </a:p>
        </p:txBody>
      </p:sp>
      <p:sp>
        <p:nvSpPr>
          <p:cNvPr id="52" name="Shape 50"/>
          <p:cNvSpPr/>
          <p:nvPr/>
        </p:nvSpPr>
        <p:spPr>
          <a:xfrm>
            <a:off x="7863840" y="2148840"/>
            <a:ext cx="914400" cy="18288"/>
          </a:xfrm>
          <a:prstGeom prst="rect">
            <a:avLst/>
          </a:prstGeom>
          <a:solidFill>
            <a:srgbClr val="DC2626"/>
          </a:solidFill>
          <a:ln w="12700">
            <a:solidFill>
              <a:srgbClr val="DC2626"/>
            </a:solidFill>
            <a:prstDash val="solid"/>
          </a:ln>
        </p:spPr>
      </p:sp>
      <p:sp>
        <p:nvSpPr>
          <p:cNvPr id="53" name="Text 51"/>
          <p:cNvSpPr/>
          <p:nvPr/>
        </p:nvSpPr>
        <p:spPr>
          <a:xfrm>
            <a:off x="7818120" y="2212848"/>
            <a:ext cx="1005840" cy="2103120"/>
          </a:xfrm>
          <a:prstGeom prst="rect">
            <a:avLst/>
          </a:prstGeom>
          <a:noFill/>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Reads all 6 documents and generates production-ready code, tests, Dockerfile, and CI/CD configs.</a:t>
            </a:r>
            <a:endParaRPr lang="en-US" sz="1000" dirty="0"/>
          </a:p>
        </p:txBody>
      </p:sp>
      <p:sp>
        <p:nvSpPr>
          <p:cNvPr id="54" name="Text 52"/>
          <p:cNvSpPr/>
          <p:nvPr/>
        </p:nvSpPr>
        <p:spPr>
          <a:xfrm>
            <a:off x="365760" y="4572000"/>
            <a:ext cx="8412480" cy="274320"/>
          </a:xfrm>
          <a:prstGeom prst="rect">
            <a:avLst/>
          </a:prstGeom>
          <a:noFill/>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Requirements → Planning → Design → Build → Test → Deploy → Ship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Step-by-Step Execution</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1078992" y="822960"/>
            <a:ext cx="54864" cy="3931920"/>
          </a:xfrm>
          <a:prstGeom prst="rect">
            <a:avLst/>
          </a:prstGeom>
          <a:solidFill>
            <a:srgbClr val="E2E8F0"/>
          </a:solidFill>
          <a:ln w="12700">
            <a:solidFill>
              <a:srgbClr val="E2E8F0"/>
            </a:solidFill>
            <a:prstDash val="solid"/>
          </a:ln>
        </p:spPr>
      </p:sp>
      <p:sp>
        <p:nvSpPr>
          <p:cNvPr id="7" name="Shape 5"/>
          <p:cNvSpPr/>
          <p:nvPr/>
        </p:nvSpPr>
        <p:spPr>
          <a:xfrm>
            <a:off x="822960" y="859536"/>
            <a:ext cx="512064" cy="512064"/>
          </a:xfrm>
          <a:prstGeom prst="ellipse">
            <a:avLst/>
          </a:prstGeom>
          <a:solidFill>
            <a:srgbClr val="2563EB"/>
          </a:solidFill>
          <a:ln w="12700">
            <a:solidFill>
              <a:srgbClr val="2563EB"/>
            </a:solidFill>
            <a:prstDash val="solid"/>
          </a:ln>
        </p:spPr>
      </p:sp>
      <p:sp>
        <p:nvSpPr>
          <p:cNvPr id="8" name="Text 6"/>
          <p:cNvSpPr/>
          <p:nvPr/>
        </p:nvSpPr>
        <p:spPr>
          <a:xfrm>
            <a:off x="822960" y="859536"/>
            <a:ext cx="512064" cy="512064"/>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9" name="Shape 7"/>
          <p:cNvSpPr/>
          <p:nvPr/>
        </p:nvSpPr>
        <p:spPr>
          <a:xfrm>
            <a:off x="1508760" y="822960"/>
            <a:ext cx="7223760" cy="6858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0" name="Shape 8"/>
          <p:cNvSpPr/>
          <p:nvPr/>
        </p:nvSpPr>
        <p:spPr>
          <a:xfrm>
            <a:off x="1508760" y="822960"/>
            <a:ext cx="64008" cy="685800"/>
          </a:xfrm>
          <a:prstGeom prst="rect">
            <a:avLst/>
          </a:prstGeom>
          <a:solidFill>
            <a:srgbClr val="2563EB"/>
          </a:solidFill>
          <a:ln w="12700">
            <a:solidFill>
              <a:srgbClr val="2563EB"/>
            </a:solidFill>
            <a:prstDash val="solid"/>
          </a:ln>
        </p:spPr>
      </p:sp>
      <p:sp>
        <p:nvSpPr>
          <p:cNvPr id="11" name="Text 9"/>
          <p:cNvSpPr/>
          <p:nvPr/>
        </p:nvSpPr>
        <p:spPr>
          <a:xfrm>
            <a:off x="1691640" y="868680"/>
            <a:ext cx="6858000" cy="237744"/>
          </a:xfrm>
          <a:prstGeom prst="rect">
            <a:avLst/>
          </a:prstGeom>
          <a:noFill/>
        </p:spPr>
        <p:txBody>
          <a:bodyPr wrap="square" lIns="0" tIns="0" rIns="0" bIns="0"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Write requirements.txt</a:t>
            </a:r>
            <a:endParaRPr lang="en-US" sz="1200" dirty="0"/>
          </a:p>
        </p:txBody>
      </p:sp>
      <p:sp>
        <p:nvSpPr>
          <p:cNvPr id="12" name="Text 10"/>
          <p:cNvSpPr/>
          <p:nvPr/>
        </p:nvSpPr>
        <p:spPr>
          <a:xfrm>
            <a:off x="1691640" y="1097280"/>
            <a:ext cx="6858000" cy="347472"/>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Write what you want to build in plain language. It can be rough, incomplete, or high-level — the system is designed to handle ambiguity gracefully.</a:t>
            </a:r>
            <a:endParaRPr lang="en-US" sz="1000" dirty="0"/>
          </a:p>
        </p:txBody>
      </p:sp>
      <p:sp>
        <p:nvSpPr>
          <p:cNvPr id="13" name="Shape 11"/>
          <p:cNvSpPr/>
          <p:nvPr/>
        </p:nvSpPr>
        <p:spPr>
          <a:xfrm>
            <a:off x="822960" y="1655064"/>
            <a:ext cx="512064" cy="512064"/>
          </a:xfrm>
          <a:prstGeom prst="ellipse">
            <a:avLst/>
          </a:prstGeom>
          <a:solidFill>
            <a:srgbClr val="6366F1"/>
          </a:solidFill>
          <a:ln w="12700">
            <a:solidFill>
              <a:srgbClr val="6366F1"/>
            </a:solidFill>
            <a:prstDash val="solid"/>
          </a:ln>
        </p:spPr>
      </p:sp>
      <p:sp>
        <p:nvSpPr>
          <p:cNvPr id="14" name="Text 12"/>
          <p:cNvSpPr/>
          <p:nvPr/>
        </p:nvSpPr>
        <p:spPr>
          <a:xfrm>
            <a:off x="822960" y="1655064"/>
            <a:ext cx="512064" cy="512064"/>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5" name="Shape 13"/>
          <p:cNvSpPr/>
          <p:nvPr/>
        </p:nvSpPr>
        <p:spPr>
          <a:xfrm>
            <a:off x="1508760" y="1618488"/>
            <a:ext cx="7223760" cy="6858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6" name="Shape 14"/>
          <p:cNvSpPr/>
          <p:nvPr/>
        </p:nvSpPr>
        <p:spPr>
          <a:xfrm>
            <a:off x="1508760" y="1618488"/>
            <a:ext cx="64008" cy="685800"/>
          </a:xfrm>
          <a:prstGeom prst="rect">
            <a:avLst/>
          </a:prstGeom>
          <a:solidFill>
            <a:srgbClr val="6366F1"/>
          </a:solidFill>
          <a:ln w="12700">
            <a:solidFill>
              <a:srgbClr val="6366F1"/>
            </a:solidFill>
            <a:prstDash val="solid"/>
          </a:ln>
        </p:spPr>
      </p:sp>
      <p:sp>
        <p:nvSpPr>
          <p:cNvPr id="17" name="Text 15"/>
          <p:cNvSpPr/>
          <p:nvPr/>
        </p:nvSpPr>
        <p:spPr>
          <a:xfrm>
            <a:off x="1691640" y="1664208"/>
            <a:ext cx="6858000" cy="237744"/>
          </a:xfrm>
          <a:prstGeom prst="rect">
            <a:avLst/>
          </a:prstGeom>
          <a:noFill/>
        </p:spPr>
        <p:txBody>
          <a:bodyPr wrap="square" lIns="0" tIns="0" rIns="0" bIns="0" rtlCol="0" anchor="ctr"/>
          <a:lstStyle/>
          <a:p>
            <a:pPr marL="0" indent="0">
              <a:buNone/>
            </a:pPr>
            <a:r>
              <a:rPr lang="en-US" sz="1200" b="1" dirty="0">
                <a:solidFill>
                  <a:srgbClr val="6366F1"/>
                </a:solidFill>
                <a:latin typeface="Trebuchet MS" pitchFamily="34" charset="0"/>
                <a:ea typeface="Trebuchet MS" pitchFamily="34" charset="-122"/>
                <a:cs typeface="Trebuchet MS" pitchFamily="34" charset="-120"/>
              </a:rPr>
              <a:t>Planning Phase Runs Automatically</a:t>
            </a:r>
            <a:endParaRPr lang="en-US" sz="1200" dirty="0"/>
          </a:p>
        </p:txBody>
      </p:sp>
      <p:sp>
        <p:nvSpPr>
          <p:cNvPr id="18" name="Text 16"/>
          <p:cNvSpPr/>
          <p:nvPr/>
        </p:nvSpPr>
        <p:spPr>
          <a:xfrm>
            <a:off x="1691640" y="1892808"/>
            <a:ext cx="6858000" cy="347472"/>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All 6 planning roles execute in sequence, each saving its output as a file that the next role reads. No manual work is needed between steps.</a:t>
            </a:r>
            <a:endParaRPr lang="en-US" sz="1000" dirty="0"/>
          </a:p>
        </p:txBody>
      </p:sp>
      <p:sp>
        <p:nvSpPr>
          <p:cNvPr id="19" name="Shape 17"/>
          <p:cNvSpPr/>
          <p:nvPr/>
        </p:nvSpPr>
        <p:spPr>
          <a:xfrm>
            <a:off x="822960" y="2450592"/>
            <a:ext cx="512064" cy="512064"/>
          </a:xfrm>
          <a:prstGeom prst="ellipse">
            <a:avLst/>
          </a:prstGeom>
          <a:solidFill>
            <a:srgbClr val="8B5CF6"/>
          </a:solidFill>
          <a:ln w="12700">
            <a:solidFill>
              <a:srgbClr val="8B5CF6"/>
            </a:solidFill>
            <a:prstDash val="solid"/>
          </a:ln>
        </p:spPr>
      </p:sp>
      <p:sp>
        <p:nvSpPr>
          <p:cNvPr id="20" name="Text 18"/>
          <p:cNvSpPr/>
          <p:nvPr/>
        </p:nvSpPr>
        <p:spPr>
          <a:xfrm>
            <a:off x="822960" y="2450592"/>
            <a:ext cx="512064" cy="512064"/>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21" name="Shape 19"/>
          <p:cNvSpPr/>
          <p:nvPr/>
        </p:nvSpPr>
        <p:spPr>
          <a:xfrm>
            <a:off x="1508760" y="2414016"/>
            <a:ext cx="7223760" cy="6858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22" name="Shape 20"/>
          <p:cNvSpPr/>
          <p:nvPr/>
        </p:nvSpPr>
        <p:spPr>
          <a:xfrm>
            <a:off x="1508760" y="2414016"/>
            <a:ext cx="64008" cy="685800"/>
          </a:xfrm>
          <a:prstGeom prst="rect">
            <a:avLst/>
          </a:prstGeom>
          <a:solidFill>
            <a:srgbClr val="8B5CF6"/>
          </a:solidFill>
          <a:ln w="12700">
            <a:solidFill>
              <a:srgbClr val="8B5CF6"/>
            </a:solidFill>
            <a:prstDash val="solid"/>
          </a:ln>
        </p:spPr>
      </p:sp>
      <p:sp>
        <p:nvSpPr>
          <p:cNvPr id="23" name="Text 21"/>
          <p:cNvSpPr/>
          <p:nvPr/>
        </p:nvSpPr>
        <p:spPr>
          <a:xfrm>
            <a:off x="1691640" y="2459736"/>
            <a:ext cx="6858000" cy="237744"/>
          </a:xfrm>
          <a:prstGeom prst="rect">
            <a:avLst/>
          </a:prstGeom>
          <a:noFill/>
        </p:spPr>
        <p:txBody>
          <a:bodyPr wrap="square" lIns="0" tIns="0" rIns="0" bIns="0" rtlCol="0" anchor="ctr"/>
          <a:lstStyle/>
          <a:p>
            <a:pPr marL="0" indent="0">
              <a:buNone/>
            </a:pPr>
            <a:r>
              <a:rPr lang="en-US" sz="1200" b="1" dirty="0">
                <a:solidFill>
                  <a:srgbClr val="8B5CF6"/>
                </a:solidFill>
                <a:latin typeface="Trebuchet MS" pitchFamily="34" charset="0"/>
                <a:ea typeface="Trebuchet MS" pitchFamily="34" charset="-122"/>
                <a:cs typeface="Trebuchet MS" pitchFamily="34" charset="-120"/>
              </a:rPr>
              <a:t>One Optional Pause (Frontend Only)</a:t>
            </a:r>
            <a:endParaRPr lang="en-US" sz="1200" dirty="0"/>
          </a:p>
        </p:txBody>
      </p:sp>
      <p:sp>
        <p:nvSpPr>
          <p:cNvPr id="24" name="Text 22"/>
          <p:cNvSpPr/>
          <p:nvPr/>
        </p:nvSpPr>
        <p:spPr>
          <a:xfrm>
            <a:off x="1691640" y="2688336"/>
            <a:ext cx="6858000" cy="347472"/>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For frontend projects, the system pauses at the UX step to wait for your design image. You provide the image, and the pipeline resumes automatically.</a:t>
            </a:r>
            <a:endParaRPr lang="en-US" sz="1000" dirty="0"/>
          </a:p>
        </p:txBody>
      </p:sp>
      <p:sp>
        <p:nvSpPr>
          <p:cNvPr id="25" name="Shape 23"/>
          <p:cNvSpPr/>
          <p:nvPr/>
        </p:nvSpPr>
        <p:spPr>
          <a:xfrm>
            <a:off x="822960" y="3246120"/>
            <a:ext cx="512064" cy="512064"/>
          </a:xfrm>
          <a:prstGeom prst="ellipse">
            <a:avLst/>
          </a:prstGeom>
          <a:solidFill>
            <a:srgbClr val="0891B2"/>
          </a:solidFill>
          <a:ln w="12700">
            <a:solidFill>
              <a:srgbClr val="0891B2"/>
            </a:solidFill>
            <a:prstDash val="solid"/>
          </a:ln>
        </p:spPr>
      </p:sp>
      <p:sp>
        <p:nvSpPr>
          <p:cNvPr id="26" name="Text 24"/>
          <p:cNvSpPr/>
          <p:nvPr/>
        </p:nvSpPr>
        <p:spPr>
          <a:xfrm>
            <a:off x="822960" y="3246120"/>
            <a:ext cx="512064" cy="512064"/>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7" name="Shape 25"/>
          <p:cNvSpPr/>
          <p:nvPr/>
        </p:nvSpPr>
        <p:spPr>
          <a:xfrm>
            <a:off x="1508760" y="3209544"/>
            <a:ext cx="7223760" cy="6858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28" name="Shape 26"/>
          <p:cNvSpPr/>
          <p:nvPr/>
        </p:nvSpPr>
        <p:spPr>
          <a:xfrm>
            <a:off x="1508760" y="3209544"/>
            <a:ext cx="64008" cy="685800"/>
          </a:xfrm>
          <a:prstGeom prst="rect">
            <a:avLst/>
          </a:prstGeom>
          <a:solidFill>
            <a:srgbClr val="0891B2"/>
          </a:solidFill>
          <a:ln w="12700">
            <a:solidFill>
              <a:srgbClr val="0891B2"/>
            </a:solidFill>
            <a:prstDash val="solid"/>
          </a:ln>
        </p:spPr>
      </p:sp>
      <p:sp>
        <p:nvSpPr>
          <p:cNvPr id="29" name="Text 27"/>
          <p:cNvSpPr/>
          <p:nvPr/>
        </p:nvSpPr>
        <p:spPr>
          <a:xfrm>
            <a:off x="1691640" y="3255264"/>
            <a:ext cx="6858000" cy="237744"/>
          </a:xfrm>
          <a:prstGeom prst="rect">
            <a:avLst/>
          </a:prstGeom>
          <a:noFill/>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Code Generation</a:t>
            </a:r>
            <a:endParaRPr lang="en-US" sz="1200" dirty="0"/>
          </a:p>
        </p:txBody>
      </p:sp>
      <p:sp>
        <p:nvSpPr>
          <p:cNvPr id="30" name="Text 28"/>
          <p:cNvSpPr/>
          <p:nvPr/>
        </p:nvSpPr>
        <p:spPr>
          <a:xfrm>
            <a:off x="1691640" y="3483864"/>
            <a:ext cx="6858000" cy="347472"/>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CODE-GEN role reads all 6 planning documents together and generates all code files, test scripts, infrastructure configs, and a README.</a:t>
            </a:r>
            <a:endParaRPr lang="en-US" sz="1000" dirty="0"/>
          </a:p>
        </p:txBody>
      </p:sp>
      <p:sp>
        <p:nvSpPr>
          <p:cNvPr id="31" name="Shape 29"/>
          <p:cNvSpPr/>
          <p:nvPr/>
        </p:nvSpPr>
        <p:spPr>
          <a:xfrm>
            <a:off x="822960" y="4041648"/>
            <a:ext cx="512064" cy="512064"/>
          </a:xfrm>
          <a:prstGeom prst="ellipse">
            <a:avLst/>
          </a:prstGeom>
          <a:solidFill>
            <a:srgbClr val="059669"/>
          </a:solidFill>
          <a:ln w="12700">
            <a:solidFill>
              <a:srgbClr val="059669"/>
            </a:solidFill>
            <a:prstDash val="solid"/>
          </a:ln>
        </p:spPr>
      </p:sp>
      <p:sp>
        <p:nvSpPr>
          <p:cNvPr id="32" name="Text 30"/>
          <p:cNvSpPr/>
          <p:nvPr/>
        </p:nvSpPr>
        <p:spPr>
          <a:xfrm>
            <a:off x="822960" y="4041648"/>
            <a:ext cx="512064" cy="512064"/>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33" name="Shape 31"/>
          <p:cNvSpPr/>
          <p:nvPr/>
        </p:nvSpPr>
        <p:spPr>
          <a:xfrm>
            <a:off x="1508760" y="4005072"/>
            <a:ext cx="7223760" cy="6858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34" name="Shape 32"/>
          <p:cNvSpPr/>
          <p:nvPr/>
        </p:nvSpPr>
        <p:spPr>
          <a:xfrm>
            <a:off x="1508760" y="4005072"/>
            <a:ext cx="64008" cy="685800"/>
          </a:xfrm>
          <a:prstGeom prst="rect">
            <a:avLst/>
          </a:prstGeom>
          <a:solidFill>
            <a:srgbClr val="059669"/>
          </a:solidFill>
          <a:ln w="12700">
            <a:solidFill>
              <a:srgbClr val="059669"/>
            </a:solidFill>
            <a:prstDash val="solid"/>
          </a:ln>
        </p:spPr>
      </p:sp>
      <p:sp>
        <p:nvSpPr>
          <p:cNvPr id="35" name="Text 33"/>
          <p:cNvSpPr/>
          <p:nvPr/>
        </p:nvSpPr>
        <p:spPr>
          <a:xfrm>
            <a:off x="1691640" y="4050792"/>
            <a:ext cx="6858000" cy="237744"/>
          </a:xfrm>
          <a:prstGeom prst="rect">
            <a:avLst/>
          </a:prstGeom>
          <a:noFill/>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Test and Deploy</a:t>
            </a:r>
            <a:endParaRPr lang="en-US" sz="1200" dirty="0"/>
          </a:p>
        </p:txBody>
      </p:sp>
      <p:sp>
        <p:nvSpPr>
          <p:cNvPr id="36" name="Text 34"/>
          <p:cNvSpPr/>
          <p:nvPr/>
        </p:nvSpPr>
        <p:spPr>
          <a:xfrm>
            <a:off x="1691640" y="4279392"/>
            <a:ext cx="6858000" cy="347472"/>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Run the generated test scripts to validate the code. Use the generated DevOps configs to deploy directly to your production environment.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Built for Two Types of Projects</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68680"/>
            <a:ext cx="3931920" cy="4023360"/>
          </a:xfrm>
          <a:prstGeom prst="rect">
            <a:avLst/>
          </a:prstGeom>
          <a:solidFill>
            <a:srgbClr val="DBEAFE"/>
          </a:solidFill>
          <a:ln w="25400">
            <a:solidFill>
              <a:srgbClr val="2563EB"/>
            </a:solidFill>
            <a:prstDash val="solid"/>
          </a:ln>
          <a:effectLst>
            <a:outerShdw blurRad="101600" dist="38100" dir="8100000" algn="bl" rotWithShape="0">
              <a:srgbClr val="000000">
                <a:alpha val="10000"/>
              </a:srgbClr>
            </a:outerShdw>
          </a:effectLst>
        </p:spPr>
      </p:sp>
      <p:sp>
        <p:nvSpPr>
          <p:cNvPr id="7" name="Shape 5"/>
          <p:cNvSpPr/>
          <p:nvPr/>
        </p:nvSpPr>
        <p:spPr>
          <a:xfrm>
            <a:off x="365760" y="868680"/>
            <a:ext cx="3931920" cy="640080"/>
          </a:xfrm>
          <a:prstGeom prst="rect">
            <a:avLst/>
          </a:prstGeom>
          <a:solidFill>
            <a:srgbClr val="2563EB"/>
          </a:solidFill>
          <a:ln w="12700">
            <a:solidFill>
              <a:srgbClr val="2563EB"/>
            </a:solidFill>
            <a:prstDash val="solid"/>
          </a:ln>
        </p:spPr>
      </p:sp>
      <p:sp>
        <p:nvSpPr>
          <p:cNvPr id="8" name="Text 6"/>
          <p:cNvSpPr/>
          <p:nvPr/>
        </p:nvSpPr>
        <p:spPr>
          <a:xfrm>
            <a:off x="457200" y="896112"/>
            <a:ext cx="3749040" cy="32004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Full Stack Mode</a:t>
            </a:r>
            <a:endParaRPr lang="en-US" sz="1400" dirty="0"/>
          </a:p>
        </p:txBody>
      </p:sp>
      <p:sp>
        <p:nvSpPr>
          <p:cNvPr id="9" name="Text 7"/>
          <p:cNvSpPr/>
          <p:nvPr/>
        </p:nvSpPr>
        <p:spPr>
          <a:xfrm>
            <a:off x="457200" y="1197864"/>
            <a:ext cx="3749040" cy="228600"/>
          </a:xfrm>
          <a:prstGeom prst="rect">
            <a:avLst/>
          </a:prstGeom>
          <a:noFill/>
        </p:spPr>
        <p:txBody>
          <a:bodyPr wrap="square" lIns="0" tIns="0" rIns="0" bIns="0" rtlCol="0" anchor="ctr"/>
          <a:lstStyle/>
          <a:p>
            <a:pPr marL="0" indent="0" algn="ctr">
              <a:buNone/>
            </a:pPr>
            <a:r>
              <a:rPr lang="en-US" sz="900" i="1" dirty="0">
                <a:solidFill>
                  <a:srgbClr val="BFDBFE"/>
                </a:solidFill>
                <a:latin typeface="Calibri" pitchFamily="34" charset="0"/>
                <a:ea typeface="Calibri" pitchFamily="34" charset="-122"/>
                <a:cs typeface="Calibri" pitchFamily="34" charset="-120"/>
              </a:rPr>
              <a:t>(1 pause)</a:t>
            </a:r>
            <a:endParaRPr lang="en-US" sz="900" dirty="0"/>
          </a:p>
        </p:txBody>
      </p:sp>
      <p:sp>
        <p:nvSpPr>
          <p:cNvPr id="10" name="Shape 8"/>
          <p:cNvSpPr/>
          <p:nvPr/>
        </p:nvSpPr>
        <p:spPr>
          <a:xfrm>
            <a:off x="548640" y="1691640"/>
            <a:ext cx="201168" cy="201168"/>
          </a:xfrm>
          <a:prstGeom prst="ellipse">
            <a:avLst/>
          </a:prstGeom>
          <a:solidFill>
            <a:srgbClr val="2563EB"/>
          </a:solidFill>
          <a:ln w="12700">
            <a:solidFill>
              <a:srgbClr val="2563EB"/>
            </a:solidFill>
            <a:prstDash val="solid"/>
          </a:ln>
        </p:spPr>
      </p:sp>
      <p:sp>
        <p:nvSpPr>
          <p:cNvPr id="11" name="Text 9"/>
          <p:cNvSpPr/>
          <p:nvPr/>
        </p:nvSpPr>
        <p:spPr>
          <a:xfrm>
            <a:off x="868680" y="16642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For projects that need both a frontend UI and a backend API working together.</a:t>
            </a:r>
            <a:endParaRPr lang="en-US" sz="1000" dirty="0"/>
          </a:p>
        </p:txBody>
      </p:sp>
      <p:sp>
        <p:nvSpPr>
          <p:cNvPr id="12" name="Shape 10"/>
          <p:cNvSpPr/>
          <p:nvPr/>
        </p:nvSpPr>
        <p:spPr>
          <a:xfrm>
            <a:off x="548640" y="2377440"/>
            <a:ext cx="201168" cy="201168"/>
          </a:xfrm>
          <a:prstGeom prst="ellipse">
            <a:avLst/>
          </a:prstGeom>
          <a:solidFill>
            <a:srgbClr val="2563EB"/>
          </a:solidFill>
          <a:ln w="12700">
            <a:solidFill>
              <a:srgbClr val="2563EB"/>
            </a:solidFill>
            <a:prstDash val="solid"/>
          </a:ln>
        </p:spPr>
      </p:sp>
      <p:sp>
        <p:nvSpPr>
          <p:cNvPr id="13" name="Text 11"/>
          <p:cNvSpPr/>
          <p:nvPr/>
        </p:nvSpPr>
        <p:spPr>
          <a:xfrm>
            <a:off x="868680" y="23500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pipeline pauses once at the UX step to accept a design image as input.</a:t>
            </a:r>
            <a:endParaRPr lang="en-US" sz="1000" dirty="0"/>
          </a:p>
        </p:txBody>
      </p:sp>
      <p:sp>
        <p:nvSpPr>
          <p:cNvPr id="14" name="Shape 12"/>
          <p:cNvSpPr/>
          <p:nvPr/>
        </p:nvSpPr>
        <p:spPr>
          <a:xfrm>
            <a:off x="548640" y="3063240"/>
            <a:ext cx="201168" cy="201168"/>
          </a:xfrm>
          <a:prstGeom prst="ellipse">
            <a:avLst/>
          </a:prstGeom>
          <a:solidFill>
            <a:srgbClr val="2563EB"/>
          </a:solidFill>
          <a:ln w="12700">
            <a:solidFill>
              <a:srgbClr val="2563EB"/>
            </a:solidFill>
            <a:prstDash val="solid"/>
          </a:ln>
        </p:spPr>
      </p:sp>
      <p:sp>
        <p:nvSpPr>
          <p:cNvPr id="15" name="Text 13"/>
          <p:cNvSpPr/>
          <p:nvPr/>
        </p:nvSpPr>
        <p:spPr>
          <a:xfrm>
            <a:off x="868680" y="30358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Produces frontend UI components, backend APIs, database schema, and complete deployment config.</a:t>
            </a:r>
            <a:endParaRPr lang="en-US" sz="1000" dirty="0"/>
          </a:p>
        </p:txBody>
      </p:sp>
      <p:sp>
        <p:nvSpPr>
          <p:cNvPr id="16" name="Shape 14"/>
          <p:cNvSpPr/>
          <p:nvPr/>
        </p:nvSpPr>
        <p:spPr>
          <a:xfrm>
            <a:off x="548640" y="3749040"/>
            <a:ext cx="201168" cy="201168"/>
          </a:xfrm>
          <a:prstGeom prst="ellipse">
            <a:avLst/>
          </a:prstGeom>
          <a:solidFill>
            <a:srgbClr val="2563EB"/>
          </a:solidFill>
          <a:ln w="12700">
            <a:solidFill>
              <a:srgbClr val="2563EB"/>
            </a:solidFill>
            <a:prstDash val="solid"/>
          </a:ln>
        </p:spPr>
      </p:sp>
      <p:sp>
        <p:nvSpPr>
          <p:cNvPr id="17" name="Text 15"/>
          <p:cNvSpPr/>
          <p:nvPr/>
        </p:nvSpPr>
        <p:spPr>
          <a:xfrm>
            <a:off x="868680" y="37216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All 7 roles execute including the UX designer role for visual specification.</a:t>
            </a:r>
            <a:endParaRPr lang="en-US" sz="1000" dirty="0"/>
          </a:p>
        </p:txBody>
      </p:sp>
      <p:sp>
        <p:nvSpPr>
          <p:cNvPr id="18" name="Shape 16"/>
          <p:cNvSpPr/>
          <p:nvPr/>
        </p:nvSpPr>
        <p:spPr>
          <a:xfrm>
            <a:off x="4846320" y="868680"/>
            <a:ext cx="3931920" cy="4023360"/>
          </a:xfrm>
          <a:prstGeom prst="rect">
            <a:avLst/>
          </a:prstGeom>
          <a:solidFill>
            <a:srgbClr val="E0E7FF"/>
          </a:solidFill>
          <a:ln w="25400">
            <a:solidFill>
              <a:srgbClr val="6366F1"/>
            </a:solidFill>
            <a:prstDash val="solid"/>
          </a:ln>
          <a:effectLst>
            <a:outerShdw blurRad="101600" dist="38100" dir="8100000" algn="bl" rotWithShape="0">
              <a:srgbClr val="000000">
                <a:alpha val="10000"/>
              </a:srgbClr>
            </a:outerShdw>
          </a:effectLst>
        </p:spPr>
      </p:sp>
      <p:sp>
        <p:nvSpPr>
          <p:cNvPr id="19" name="Shape 17"/>
          <p:cNvSpPr/>
          <p:nvPr/>
        </p:nvSpPr>
        <p:spPr>
          <a:xfrm>
            <a:off x="4846320" y="868680"/>
            <a:ext cx="3931920" cy="640080"/>
          </a:xfrm>
          <a:prstGeom prst="rect">
            <a:avLst/>
          </a:prstGeom>
          <a:solidFill>
            <a:srgbClr val="6366F1"/>
          </a:solidFill>
          <a:ln w="12700">
            <a:solidFill>
              <a:srgbClr val="6366F1"/>
            </a:solidFill>
            <a:prstDash val="solid"/>
          </a:ln>
        </p:spPr>
      </p:sp>
      <p:sp>
        <p:nvSpPr>
          <p:cNvPr id="20" name="Text 18"/>
          <p:cNvSpPr/>
          <p:nvPr/>
        </p:nvSpPr>
        <p:spPr>
          <a:xfrm>
            <a:off x="4937760" y="896112"/>
            <a:ext cx="3749040" cy="320040"/>
          </a:xfrm>
          <a:prstGeom prst="rect">
            <a:avLst/>
          </a:prstGeom>
          <a:noFill/>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Backend Only Mode</a:t>
            </a:r>
            <a:endParaRPr lang="en-US" sz="1400" dirty="0"/>
          </a:p>
        </p:txBody>
      </p:sp>
      <p:sp>
        <p:nvSpPr>
          <p:cNvPr id="21" name="Text 19"/>
          <p:cNvSpPr/>
          <p:nvPr/>
        </p:nvSpPr>
        <p:spPr>
          <a:xfrm>
            <a:off x="4937760" y="1197864"/>
            <a:ext cx="3749040" cy="228600"/>
          </a:xfrm>
          <a:prstGeom prst="rect">
            <a:avLst/>
          </a:prstGeom>
          <a:noFill/>
        </p:spPr>
        <p:txBody>
          <a:bodyPr wrap="square" lIns="0" tIns="0" rIns="0" bIns="0" rtlCol="0" anchor="ctr"/>
          <a:lstStyle/>
          <a:p>
            <a:pPr marL="0" indent="0" algn="ctr">
              <a:buNone/>
            </a:pPr>
            <a:r>
              <a:rPr lang="en-US" sz="900" i="1" dirty="0">
                <a:solidFill>
                  <a:srgbClr val="C7D2FE"/>
                </a:solidFill>
                <a:latin typeface="Calibri" pitchFamily="34" charset="0"/>
                <a:ea typeface="Calibri" pitchFamily="34" charset="-122"/>
                <a:cs typeface="Calibri" pitchFamily="34" charset="-120"/>
              </a:rPr>
              <a:t>(zero pauses)</a:t>
            </a:r>
            <a:endParaRPr lang="en-US" sz="900" dirty="0"/>
          </a:p>
        </p:txBody>
      </p:sp>
      <p:sp>
        <p:nvSpPr>
          <p:cNvPr id="22" name="Shape 20"/>
          <p:cNvSpPr/>
          <p:nvPr/>
        </p:nvSpPr>
        <p:spPr>
          <a:xfrm>
            <a:off x="5029200" y="1691640"/>
            <a:ext cx="201168" cy="201168"/>
          </a:xfrm>
          <a:prstGeom prst="ellipse">
            <a:avLst/>
          </a:prstGeom>
          <a:solidFill>
            <a:srgbClr val="6366F1"/>
          </a:solidFill>
          <a:ln w="12700">
            <a:solidFill>
              <a:srgbClr val="6366F1"/>
            </a:solidFill>
            <a:prstDash val="solid"/>
          </a:ln>
        </p:spPr>
      </p:sp>
      <p:sp>
        <p:nvSpPr>
          <p:cNvPr id="23" name="Text 21"/>
          <p:cNvSpPr/>
          <p:nvPr/>
        </p:nvSpPr>
        <p:spPr>
          <a:xfrm>
            <a:off x="5349240" y="16642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For projects that only need APIs, services, or backend logic — no UI required.</a:t>
            </a:r>
            <a:endParaRPr lang="en-US" sz="1000" dirty="0"/>
          </a:p>
        </p:txBody>
      </p:sp>
      <p:sp>
        <p:nvSpPr>
          <p:cNvPr id="24" name="Shape 22"/>
          <p:cNvSpPr/>
          <p:nvPr/>
        </p:nvSpPr>
        <p:spPr>
          <a:xfrm>
            <a:off x="5029200" y="2377440"/>
            <a:ext cx="201168" cy="201168"/>
          </a:xfrm>
          <a:prstGeom prst="ellipse">
            <a:avLst/>
          </a:prstGeom>
          <a:solidFill>
            <a:srgbClr val="6366F1"/>
          </a:solidFill>
          <a:ln w="12700">
            <a:solidFill>
              <a:srgbClr val="6366F1"/>
            </a:solidFill>
            <a:prstDash val="solid"/>
          </a:ln>
        </p:spPr>
      </p:sp>
      <p:sp>
        <p:nvSpPr>
          <p:cNvPr id="25" name="Text 23"/>
          <p:cNvSpPr/>
          <p:nvPr/>
        </p:nvSpPr>
        <p:spPr>
          <a:xfrm>
            <a:off x="5349240" y="23500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The UX role is skipped completely, keeping the pipeline lean and fast.</a:t>
            </a:r>
            <a:endParaRPr lang="en-US" sz="1000" dirty="0"/>
          </a:p>
        </p:txBody>
      </p:sp>
      <p:sp>
        <p:nvSpPr>
          <p:cNvPr id="26" name="Shape 24"/>
          <p:cNvSpPr/>
          <p:nvPr/>
        </p:nvSpPr>
        <p:spPr>
          <a:xfrm>
            <a:off x="5029200" y="3063240"/>
            <a:ext cx="201168" cy="201168"/>
          </a:xfrm>
          <a:prstGeom prst="ellipse">
            <a:avLst/>
          </a:prstGeom>
          <a:solidFill>
            <a:srgbClr val="6366F1"/>
          </a:solidFill>
          <a:ln w="12700">
            <a:solidFill>
              <a:srgbClr val="6366F1"/>
            </a:solidFill>
            <a:prstDash val="solid"/>
          </a:ln>
        </p:spPr>
      </p:sp>
      <p:sp>
        <p:nvSpPr>
          <p:cNvPr id="27" name="Text 25"/>
          <p:cNvSpPr/>
          <p:nvPr/>
        </p:nvSpPr>
        <p:spPr>
          <a:xfrm>
            <a:off x="5349240" y="30358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Runs fully automatically from requirements.txt to code with zero human input.</a:t>
            </a:r>
            <a:endParaRPr lang="en-US" sz="1000" dirty="0"/>
          </a:p>
        </p:txBody>
      </p:sp>
      <p:sp>
        <p:nvSpPr>
          <p:cNvPr id="28" name="Shape 26"/>
          <p:cNvSpPr/>
          <p:nvPr/>
        </p:nvSpPr>
        <p:spPr>
          <a:xfrm>
            <a:off x="5029200" y="3749040"/>
            <a:ext cx="201168" cy="201168"/>
          </a:xfrm>
          <a:prstGeom prst="ellipse">
            <a:avLst/>
          </a:prstGeom>
          <a:solidFill>
            <a:srgbClr val="6366F1"/>
          </a:solidFill>
          <a:ln w="12700">
            <a:solidFill>
              <a:srgbClr val="6366F1"/>
            </a:solidFill>
            <a:prstDash val="solid"/>
          </a:ln>
        </p:spPr>
      </p:sp>
      <p:sp>
        <p:nvSpPr>
          <p:cNvPr id="29" name="Text 27"/>
          <p:cNvSpPr/>
          <p:nvPr/>
        </p:nvSpPr>
        <p:spPr>
          <a:xfrm>
            <a:off x="5349240" y="3721608"/>
            <a:ext cx="3246120" cy="50292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Ideal for microservices, data pipelines, internal tools, or API-only products.</a:t>
            </a:r>
            <a:endParaRPr lang="en-US" sz="1000" dirty="0"/>
          </a:p>
        </p:txBody>
      </p:sp>
      <p:sp>
        <p:nvSpPr>
          <p:cNvPr id="30" name="Shape 28"/>
          <p:cNvSpPr/>
          <p:nvPr/>
        </p:nvSpPr>
        <p:spPr>
          <a:xfrm>
            <a:off x="4270248" y="2560320"/>
            <a:ext cx="548640" cy="548640"/>
          </a:xfrm>
          <a:prstGeom prst="ellipse">
            <a:avLst/>
          </a:prstGeom>
          <a:solidFill>
            <a:srgbClr val="1E293B"/>
          </a:solidFill>
          <a:ln w="12700">
            <a:solidFill>
              <a:srgbClr val="1E293B"/>
            </a:solidFill>
            <a:prstDash val="solid"/>
          </a:ln>
        </p:spPr>
      </p:sp>
      <p:sp>
        <p:nvSpPr>
          <p:cNvPr id="31" name="Text 29"/>
          <p:cNvSpPr/>
          <p:nvPr/>
        </p:nvSpPr>
        <p:spPr>
          <a:xfrm>
            <a:off x="4270248" y="2560320"/>
            <a:ext cx="548640" cy="548640"/>
          </a:xfrm>
          <a:prstGeom prst="rect">
            <a:avLst/>
          </a:prstGeom>
          <a:noFill/>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VS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One Role — One Output — One Purpose</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graphicFrame>
        <p:nvGraphicFramePr>
          <p:cNvPr id="8" name="Table 0"/>
          <p:cNvGraphicFramePr>
            <a:graphicFrameLocks noGrp="1"/>
          </p:cNvGraphicFramePr>
          <p:nvPr/>
        </p:nvGraphicFramePr>
        <p:xfrm>
          <a:off x="365760" y="777240"/>
          <a:ext cx="8412480" cy="4114800"/>
        </p:xfrm>
        <a:graphic>
          <a:graphicData uri="http://schemas.openxmlformats.org/drawingml/2006/table">
            <a:tbl>
              <a:tblPr/>
              <a:tblGrid>
                <a:gridCol w="1097280"/>
                <a:gridCol w="1828800"/>
                <a:gridCol w="5486400"/>
              </a:tblGrid>
              <a:tr h="475488">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Role</a:t>
                      </a:r>
                      <a:endParaRPr lang="en-US" sz="11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Output File</a:t>
                      </a:r>
                      <a:endParaRPr lang="en-US" sz="11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What It Contains</a:t>
                      </a:r>
                      <a:endParaRPr lang="en-US" sz="11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475488">
                <a:tc>
                  <a:txBody>
                    <a:bodyPr/>
                    <a:lstStyle/>
                    <a:p>
                      <a:pPr marL="0" indent="0">
                        <a:buNone/>
                      </a:pPr>
                      <a:r>
                        <a:rPr lang="en-US" sz="1000" b="1" dirty="0">
                          <a:solidFill>
                            <a:srgbClr val="2563EB"/>
                          </a:solidFill>
                          <a:latin typeface="Trebuchet MS" pitchFamily="34" charset="0"/>
                          <a:ea typeface="Trebuchet MS" pitchFamily="34" charset="-122"/>
                          <a:cs typeface="Trebuchet MS" pitchFamily="34" charset="-120"/>
                        </a:rPr>
                        <a:t>PM</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pm-output.md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PRD, goals, user personas, MoSCoW priority framework</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475488">
                <a:tc>
                  <a:txBody>
                    <a:bodyPr/>
                    <a:lstStyle/>
                    <a:p>
                      <a:pPr marL="0" indent="0">
                        <a:buNone/>
                      </a:pPr>
                      <a:r>
                        <a:rPr lang="en-US" sz="1000" b="1" dirty="0">
                          <a:solidFill>
                            <a:srgbClr val="6366F1"/>
                          </a:solidFill>
                          <a:latin typeface="Trebuchet MS" pitchFamily="34" charset="0"/>
                          <a:ea typeface="Trebuchet MS" pitchFamily="34" charset="-122"/>
                          <a:cs typeface="Trebuchet MS" pitchFamily="34" charset="-120"/>
                        </a:rPr>
                        <a:t>BA</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ba-output.md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User stories, acceptance criteria, business rules</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marL="0" indent="0">
                        <a:buNone/>
                      </a:pPr>
                      <a:r>
                        <a:rPr lang="en-US" sz="1000" b="1" dirty="0">
                          <a:solidFill>
                            <a:srgbClr val="8B5CF6"/>
                          </a:solidFill>
                          <a:latin typeface="Trebuchet MS" pitchFamily="34" charset="0"/>
                          <a:ea typeface="Trebuchet MS" pitchFamily="34" charset="-122"/>
                          <a:cs typeface="Trebuchet MS" pitchFamily="34" charset="-120"/>
                        </a:rPr>
                        <a:t>UX</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ux-output.md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Screen specs, UI components, design tokens, user flows</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475488">
                <a:tc>
                  <a:txBody>
                    <a:bodyPr/>
                    <a:lstStyle/>
                    <a:p>
                      <a:pPr marL="0" indent="0">
                        <a:buNone/>
                      </a:pPr>
                      <a:r>
                        <a:rPr lang="en-US" sz="1000" b="1" dirty="0">
                          <a:solidFill>
                            <a:srgbClr val="0891B2"/>
                          </a:solidFill>
                          <a:latin typeface="Trebuchet MS" pitchFamily="34" charset="0"/>
                          <a:ea typeface="Trebuchet MS" pitchFamily="34" charset="-122"/>
                          <a:cs typeface="Trebuchet MS" pitchFamily="34" charset="-120"/>
                        </a:rPr>
                        <a:t>ENG</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eng-output.md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API contracts, DB schema, system architecture, tech stack</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marL="0" indent="0">
                        <a:buNone/>
                      </a:pPr>
                      <a:r>
                        <a:rPr lang="en-US" sz="1000" b="1" dirty="0">
                          <a:solidFill>
                            <a:srgbClr val="059669"/>
                          </a:solidFill>
                          <a:latin typeface="Trebuchet MS" pitchFamily="34" charset="0"/>
                          <a:ea typeface="Trebuchet MS" pitchFamily="34" charset="-122"/>
                          <a:cs typeface="Trebuchet MS" pitchFamily="34" charset="-120"/>
                        </a:rPr>
                        <a:t>QA</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qa-output.md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Test cases, coverage map, risk prioritisation matrix</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475488">
                <a:tc>
                  <a:txBody>
                    <a:bodyPr/>
                    <a:lstStyle/>
                    <a:p>
                      <a:pPr marL="0" indent="0">
                        <a:buNone/>
                      </a:pPr>
                      <a:r>
                        <a:rPr lang="en-US" sz="1000" b="1" dirty="0">
                          <a:solidFill>
                            <a:srgbClr val="D97706"/>
                          </a:solidFill>
                          <a:latin typeface="Trebuchet MS" pitchFamily="34" charset="0"/>
                          <a:ea typeface="Trebuchet MS" pitchFamily="34" charset="-122"/>
                          <a:cs typeface="Trebuchet MS" pitchFamily="34" charset="-120"/>
                        </a:rPr>
                        <a:t>DEVOPS</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devops-output.md</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CI/CD pipeline, infra design, monitoring config, SLOs</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75488">
                <a:tc>
                  <a:txBody>
                    <a:bodyPr/>
                    <a:lstStyle/>
                    <a:p>
                      <a:pPr marL="0" indent="0">
                        <a:buNone/>
                      </a:pPr>
                      <a:r>
                        <a:rPr lang="en-US" sz="1000" b="1" dirty="0">
                          <a:solidFill>
                            <a:srgbClr val="DC2626"/>
                          </a:solidFill>
                          <a:latin typeface="Trebuchet MS" pitchFamily="34" charset="0"/>
                          <a:ea typeface="Trebuchet MS" pitchFamily="34" charset="-122"/>
                          <a:cs typeface="Trebuchet MS" pitchFamily="34" charset="-120"/>
                        </a:rPr>
                        <a:t>CODE-GEN</a:t>
                      </a:r>
                      <a:endParaRPr lang="en-US" sz="1000" dirty="0">
                        <a:latin typeface="Trebuchet MS" pitchFamily="34" charset="0"/>
                        <a:ea typeface="Trebuchet MS" pitchFamily="34" charset="0"/>
                        <a:cs typeface="Trebuchet MS"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i="1" dirty="0">
                          <a:solidFill>
                            <a:srgbClr val="1E293B"/>
                          </a:solidFill>
                          <a:latin typeface="Calibri" pitchFamily="34" charset="0"/>
                          <a:ea typeface="Calibri" pitchFamily="34" charset="-122"/>
                          <a:cs typeface="Calibri" pitchFamily="34" charset="-120"/>
                        </a:rPr>
                        <a:t>/src + /tests + /infra</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Working source code, test scripts, Dockerfile, CI configs, README</a:t>
                      </a:r>
                      <a:endParaRPr lang="en-US" sz="1000" dirty="0">
                        <a:latin typeface="Calibri" pitchFamily="34" charset="0"/>
                        <a:ea typeface="Calibri" pitchFamily="34" charset="0"/>
                        <a:cs typeface="Calibri"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Key Principles I Built Into the System</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68680"/>
            <a:ext cx="4206240" cy="1828800"/>
          </a:xfrm>
          <a:prstGeom prst="rect">
            <a:avLst/>
          </a:prstGeom>
          <a:solidFill>
            <a:srgbClr val="DBEAFE"/>
          </a:solidFill>
          <a:ln w="25400">
            <a:solidFill>
              <a:srgbClr val="2563EB"/>
            </a:solidFill>
            <a:prstDash val="solid"/>
          </a:ln>
          <a:effectLst>
            <a:outerShdw blurRad="76200" dist="25400" dir="8100000" algn="bl" rotWithShape="0">
              <a:srgbClr val="000000">
                <a:alpha val="8000"/>
              </a:srgbClr>
            </a:outerShdw>
          </a:effectLst>
        </p:spPr>
      </p:sp>
      <p:sp>
        <p:nvSpPr>
          <p:cNvPr id="7" name="Shape 5"/>
          <p:cNvSpPr/>
          <p:nvPr/>
        </p:nvSpPr>
        <p:spPr>
          <a:xfrm>
            <a:off x="365760" y="868680"/>
            <a:ext cx="4206240" cy="45720"/>
          </a:xfrm>
          <a:prstGeom prst="rect">
            <a:avLst/>
          </a:prstGeom>
          <a:solidFill>
            <a:srgbClr val="2563EB"/>
          </a:solidFill>
          <a:ln w="12700">
            <a:solidFill>
              <a:srgbClr val="2563EB"/>
            </a:solidFill>
            <a:prstDash val="solid"/>
          </a:ln>
        </p:spPr>
      </p:sp>
      <p:sp>
        <p:nvSpPr>
          <p:cNvPr id="8" name="Shape 6"/>
          <p:cNvSpPr/>
          <p:nvPr/>
        </p:nvSpPr>
        <p:spPr>
          <a:xfrm>
            <a:off x="548640" y="1033272"/>
            <a:ext cx="457200" cy="457200"/>
          </a:xfrm>
          <a:prstGeom prst="ellipse">
            <a:avLst/>
          </a:prstGeom>
          <a:solidFill>
            <a:srgbClr val="2563EB"/>
          </a:solidFill>
          <a:ln w="12700">
            <a:solidFill>
              <a:srgbClr val="2563EB"/>
            </a:solidFill>
            <a:prstDash val="solid"/>
          </a:ln>
        </p:spPr>
      </p:sp>
      <p:sp>
        <p:nvSpPr>
          <p:cNvPr id="9" name="Text 7"/>
          <p:cNvSpPr/>
          <p:nvPr/>
        </p:nvSpPr>
        <p:spPr>
          <a:xfrm>
            <a:off x="548640" y="1033272"/>
            <a:ext cx="457200" cy="457200"/>
          </a:xfrm>
          <a:prstGeom prst="rect">
            <a:avLst/>
          </a:prstGeom>
          <a:noFill/>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43000" y="1069848"/>
            <a:ext cx="3291840" cy="292608"/>
          </a:xfrm>
          <a:prstGeom prst="rect">
            <a:avLst/>
          </a:prstGeom>
          <a:noFill/>
        </p:spPr>
        <p:txBody>
          <a:bodyPr wrap="square" lIns="0" tIns="0" rIns="0" bIns="0" rtlCol="0" anchor="ctr"/>
          <a:lstStyle/>
          <a:p>
            <a:pPr marL="0" indent="0">
              <a:buNone/>
            </a:pPr>
            <a:r>
              <a:rPr lang="en-US" sz="1300" b="1" dirty="0">
                <a:solidFill>
                  <a:srgbClr val="2563EB"/>
                </a:solidFill>
                <a:latin typeface="Trebuchet MS" pitchFamily="34" charset="0"/>
                <a:ea typeface="Trebuchet MS" pitchFamily="34" charset="-122"/>
                <a:cs typeface="Trebuchet MS" pitchFamily="34" charset="-120"/>
              </a:rPr>
              <a:t>Fully Reusable</a:t>
            </a:r>
            <a:endParaRPr lang="en-US" sz="1300" dirty="0"/>
          </a:p>
        </p:txBody>
      </p:sp>
      <p:sp>
        <p:nvSpPr>
          <p:cNvPr id="11" name="Text 9"/>
          <p:cNvSpPr/>
          <p:nvPr/>
        </p:nvSpPr>
        <p:spPr>
          <a:xfrm>
            <a:off x="548640" y="1527048"/>
            <a:ext cx="3840480" cy="105156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Every role file works for any project in any industry. There are no hardcoded examples, no domain-specific assumptions, and no features that lock it to a single type of product or technology.</a:t>
            </a:r>
            <a:endParaRPr lang="en-US" sz="1000" dirty="0"/>
          </a:p>
        </p:txBody>
      </p:sp>
      <p:sp>
        <p:nvSpPr>
          <p:cNvPr id="12" name="Shape 10"/>
          <p:cNvSpPr/>
          <p:nvPr/>
        </p:nvSpPr>
        <p:spPr>
          <a:xfrm>
            <a:off x="4754880" y="868680"/>
            <a:ext cx="4206240" cy="1828800"/>
          </a:xfrm>
          <a:prstGeom prst="rect">
            <a:avLst/>
          </a:prstGeom>
          <a:solidFill>
            <a:srgbClr val="E0E7FF"/>
          </a:solidFill>
          <a:ln w="25400">
            <a:solidFill>
              <a:srgbClr val="6366F1"/>
            </a:solidFill>
            <a:prstDash val="solid"/>
          </a:ln>
          <a:effectLst>
            <a:outerShdw blurRad="76200" dist="25400" dir="8100000" algn="bl" rotWithShape="0">
              <a:srgbClr val="000000">
                <a:alpha val="8000"/>
              </a:srgbClr>
            </a:outerShdw>
          </a:effectLst>
        </p:spPr>
      </p:sp>
      <p:sp>
        <p:nvSpPr>
          <p:cNvPr id="13" name="Shape 11"/>
          <p:cNvSpPr/>
          <p:nvPr/>
        </p:nvSpPr>
        <p:spPr>
          <a:xfrm>
            <a:off x="4754880" y="868680"/>
            <a:ext cx="4206240" cy="45720"/>
          </a:xfrm>
          <a:prstGeom prst="rect">
            <a:avLst/>
          </a:prstGeom>
          <a:solidFill>
            <a:srgbClr val="6366F1"/>
          </a:solidFill>
          <a:ln w="12700">
            <a:solidFill>
              <a:srgbClr val="6366F1"/>
            </a:solidFill>
            <a:prstDash val="solid"/>
          </a:ln>
        </p:spPr>
      </p:sp>
      <p:sp>
        <p:nvSpPr>
          <p:cNvPr id="14" name="Shape 12"/>
          <p:cNvSpPr/>
          <p:nvPr/>
        </p:nvSpPr>
        <p:spPr>
          <a:xfrm>
            <a:off x="4937760" y="1033272"/>
            <a:ext cx="457200" cy="457200"/>
          </a:xfrm>
          <a:prstGeom prst="ellipse">
            <a:avLst/>
          </a:prstGeom>
          <a:solidFill>
            <a:srgbClr val="6366F1"/>
          </a:solidFill>
          <a:ln w="12700">
            <a:solidFill>
              <a:srgbClr val="6366F1"/>
            </a:solidFill>
            <a:prstDash val="solid"/>
          </a:ln>
        </p:spPr>
      </p:sp>
      <p:sp>
        <p:nvSpPr>
          <p:cNvPr id="15" name="Text 13"/>
          <p:cNvSpPr/>
          <p:nvPr/>
        </p:nvSpPr>
        <p:spPr>
          <a:xfrm>
            <a:off x="4937760" y="1033272"/>
            <a:ext cx="457200" cy="457200"/>
          </a:xfrm>
          <a:prstGeom prst="rect">
            <a:avLst/>
          </a:prstGeom>
          <a:noFill/>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5532120" y="1069848"/>
            <a:ext cx="3291840" cy="292608"/>
          </a:xfrm>
          <a:prstGeom prst="rect">
            <a:avLst/>
          </a:prstGeom>
          <a:noFill/>
        </p:spPr>
        <p:txBody>
          <a:bodyPr wrap="square" lIns="0" tIns="0" rIns="0" bIns="0" rtlCol="0" anchor="ctr"/>
          <a:lstStyle/>
          <a:p>
            <a:pPr marL="0" indent="0">
              <a:buNone/>
            </a:pPr>
            <a:r>
              <a:rPr lang="en-US" sz="1300" b="1" dirty="0">
                <a:solidFill>
                  <a:srgbClr val="6366F1"/>
                </a:solidFill>
                <a:latin typeface="Trebuchet MS" pitchFamily="34" charset="0"/>
                <a:ea typeface="Trebuchet MS" pitchFamily="34" charset="-122"/>
                <a:cs typeface="Trebuchet MS" pitchFamily="34" charset="-120"/>
              </a:rPr>
              <a:t>Strict Role Boundaries</a:t>
            </a:r>
            <a:endParaRPr lang="en-US" sz="1300" dirty="0"/>
          </a:p>
        </p:txBody>
      </p:sp>
      <p:sp>
        <p:nvSpPr>
          <p:cNvPr id="17" name="Text 15"/>
          <p:cNvSpPr/>
          <p:nvPr/>
        </p:nvSpPr>
        <p:spPr>
          <a:xfrm>
            <a:off x="4937760" y="1527048"/>
            <a:ext cx="3840480" cy="105156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Each role is explicitly told what it must NOT do. This prevents overlap, avoids confusion, and ensures clean handoffs between every stage exactly like a well-run professional team.</a:t>
            </a:r>
            <a:endParaRPr lang="en-US" sz="1000" dirty="0"/>
          </a:p>
        </p:txBody>
      </p:sp>
      <p:sp>
        <p:nvSpPr>
          <p:cNvPr id="18" name="Shape 16"/>
          <p:cNvSpPr/>
          <p:nvPr/>
        </p:nvSpPr>
        <p:spPr>
          <a:xfrm>
            <a:off x="365760" y="2834640"/>
            <a:ext cx="4206240" cy="1828800"/>
          </a:xfrm>
          <a:prstGeom prst="rect">
            <a:avLst/>
          </a:prstGeom>
          <a:solidFill>
            <a:srgbClr val="FEF3C7"/>
          </a:solidFill>
          <a:ln w="25400">
            <a:solidFill>
              <a:srgbClr val="D97706"/>
            </a:solidFill>
            <a:prstDash val="solid"/>
          </a:ln>
          <a:effectLst>
            <a:outerShdw blurRad="76200" dist="25400" dir="8100000" algn="bl" rotWithShape="0">
              <a:srgbClr val="000000">
                <a:alpha val="8000"/>
              </a:srgbClr>
            </a:outerShdw>
          </a:effectLst>
        </p:spPr>
      </p:sp>
      <p:sp>
        <p:nvSpPr>
          <p:cNvPr id="19" name="Shape 17"/>
          <p:cNvSpPr/>
          <p:nvPr/>
        </p:nvSpPr>
        <p:spPr>
          <a:xfrm>
            <a:off x="365760" y="2834640"/>
            <a:ext cx="4206240" cy="45720"/>
          </a:xfrm>
          <a:prstGeom prst="rect">
            <a:avLst/>
          </a:prstGeom>
          <a:solidFill>
            <a:srgbClr val="D97706"/>
          </a:solidFill>
          <a:ln w="12700">
            <a:solidFill>
              <a:srgbClr val="D97706"/>
            </a:solidFill>
            <a:prstDash val="solid"/>
          </a:ln>
        </p:spPr>
      </p:sp>
      <p:sp>
        <p:nvSpPr>
          <p:cNvPr id="20" name="Shape 18"/>
          <p:cNvSpPr/>
          <p:nvPr/>
        </p:nvSpPr>
        <p:spPr>
          <a:xfrm>
            <a:off x="548640" y="2999232"/>
            <a:ext cx="457200" cy="457200"/>
          </a:xfrm>
          <a:prstGeom prst="ellipse">
            <a:avLst/>
          </a:prstGeom>
          <a:solidFill>
            <a:srgbClr val="D97706"/>
          </a:solidFill>
          <a:ln w="12700">
            <a:solidFill>
              <a:srgbClr val="D97706"/>
            </a:solidFill>
            <a:prstDash val="solid"/>
          </a:ln>
        </p:spPr>
      </p:sp>
      <p:sp>
        <p:nvSpPr>
          <p:cNvPr id="21" name="Text 19"/>
          <p:cNvSpPr/>
          <p:nvPr/>
        </p:nvSpPr>
        <p:spPr>
          <a:xfrm>
            <a:off x="548640" y="2999232"/>
            <a:ext cx="457200" cy="457200"/>
          </a:xfrm>
          <a:prstGeom prst="rect">
            <a:avLst/>
          </a:prstGeom>
          <a:noFill/>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143000" y="3035808"/>
            <a:ext cx="3291840" cy="292608"/>
          </a:xfrm>
          <a:prstGeom prst="rect">
            <a:avLst/>
          </a:prstGeom>
          <a:noFill/>
        </p:spPr>
        <p:txBody>
          <a:bodyPr wrap="square" lIns="0" tIns="0" rIns="0" bIns="0" rtlCol="0" anchor="ctr"/>
          <a:lstStyle/>
          <a:p>
            <a:pPr marL="0" indent="0">
              <a:buNone/>
            </a:pPr>
            <a:r>
              <a:rPr lang="en-US" sz="1300" b="1" dirty="0">
                <a:solidFill>
                  <a:srgbClr val="D97706"/>
                </a:solidFill>
                <a:latin typeface="Trebuchet MS" pitchFamily="34" charset="0"/>
                <a:ea typeface="Trebuchet MS" pitchFamily="34" charset="-122"/>
                <a:cs typeface="Trebuchet MS" pitchFamily="34" charset="-120"/>
              </a:rPr>
              <a:t>Handles Ambiguity Gracefully</a:t>
            </a:r>
            <a:endParaRPr lang="en-US" sz="1300" dirty="0"/>
          </a:p>
        </p:txBody>
      </p:sp>
      <p:sp>
        <p:nvSpPr>
          <p:cNvPr id="23" name="Text 21"/>
          <p:cNvSpPr/>
          <p:nvPr/>
        </p:nvSpPr>
        <p:spPr>
          <a:xfrm>
            <a:off x="548640" y="3493008"/>
            <a:ext cx="3840480" cy="105156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When requirements are unclear or missing, each role knows whether to document an assumption and continue, or stop and ask for clarification never guessing silently in the background.</a:t>
            </a:r>
            <a:endParaRPr lang="en-US" sz="1000" dirty="0"/>
          </a:p>
        </p:txBody>
      </p:sp>
      <p:sp>
        <p:nvSpPr>
          <p:cNvPr id="24" name="Shape 22"/>
          <p:cNvSpPr/>
          <p:nvPr/>
        </p:nvSpPr>
        <p:spPr>
          <a:xfrm>
            <a:off x="4754880" y="2834640"/>
            <a:ext cx="4206240" cy="1828800"/>
          </a:xfrm>
          <a:prstGeom prst="rect">
            <a:avLst/>
          </a:prstGeom>
          <a:solidFill>
            <a:srgbClr val="D1FAE5"/>
          </a:solidFill>
          <a:ln w="25400">
            <a:solidFill>
              <a:srgbClr val="059669"/>
            </a:solidFill>
            <a:prstDash val="solid"/>
          </a:ln>
          <a:effectLst>
            <a:outerShdw blurRad="76200" dist="25400" dir="8100000" algn="bl" rotWithShape="0">
              <a:srgbClr val="000000">
                <a:alpha val="8000"/>
              </a:srgbClr>
            </a:outerShdw>
          </a:effectLst>
        </p:spPr>
      </p:sp>
      <p:sp>
        <p:nvSpPr>
          <p:cNvPr id="25" name="Shape 23"/>
          <p:cNvSpPr/>
          <p:nvPr/>
        </p:nvSpPr>
        <p:spPr>
          <a:xfrm>
            <a:off x="4754880" y="2834640"/>
            <a:ext cx="4206240" cy="45720"/>
          </a:xfrm>
          <a:prstGeom prst="rect">
            <a:avLst/>
          </a:prstGeom>
          <a:solidFill>
            <a:srgbClr val="059669"/>
          </a:solidFill>
          <a:ln w="12700">
            <a:solidFill>
              <a:srgbClr val="059669"/>
            </a:solidFill>
            <a:prstDash val="solid"/>
          </a:ln>
        </p:spPr>
      </p:sp>
      <p:sp>
        <p:nvSpPr>
          <p:cNvPr id="26" name="Shape 24"/>
          <p:cNvSpPr/>
          <p:nvPr/>
        </p:nvSpPr>
        <p:spPr>
          <a:xfrm>
            <a:off x="4937760" y="2999232"/>
            <a:ext cx="457200" cy="457200"/>
          </a:xfrm>
          <a:prstGeom prst="ellipse">
            <a:avLst/>
          </a:prstGeom>
          <a:solidFill>
            <a:srgbClr val="059669"/>
          </a:solidFill>
          <a:ln w="12700">
            <a:solidFill>
              <a:srgbClr val="059669"/>
            </a:solidFill>
            <a:prstDash val="solid"/>
          </a:ln>
        </p:spPr>
      </p:sp>
      <p:sp>
        <p:nvSpPr>
          <p:cNvPr id="27" name="Text 25"/>
          <p:cNvSpPr/>
          <p:nvPr/>
        </p:nvSpPr>
        <p:spPr>
          <a:xfrm>
            <a:off x="4937760" y="2999232"/>
            <a:ext cx="457200" cy="457200"/>
          </a:xfrm>
          <a:prstGeom prst="rect">
            <a:avLst/>
          </a:prstGeom>
          <a:noFill/>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5532120" y="3035808"/>
            <a:ext cx="3291840" cy="292608"/>
          </a:xfrm>
          <a:prstGeom prst="rect">
            <a:avLst/>
          </a:prstGeom>
          <a:noFill/>
        </p:spPr>
        <p:txBody>
          <a:bodyPr wrap="square" lIns="0" tIns="0" rIns="0" bIns="0" rtlCol="0" anchor="ctr"/>
          <a:lstStyle/>
          <a:p>
            <a:pPr marL="0" indent="0">
              <a:buNone/>
            </a:pPr>
            <a:r>
              <a:rPr lang="en-US" sz="1300" b="1" dirty="0">
                <a:solidFill>
                  <a:srgbClr val="059669"/>
                </a:solidFill>
                <a:latin typeface="Trebuchet MS" pitchFamily="34" charset="0"/>
                <a:ea typeface="Trebuchet MS" pitchFamily="34" charset="-122"/>
                <a:cs typeface="Trebuchet MS" pitchFamily="34" charset="-120"/>
              </a:rPr>
              <a:t>Full Traceability</a:t>
            </a:r>
            <a:endParaRPr lang="en-US" sz="1300" dirty="0"/>
          </a:p>
        </p:txBody>
      </p:sp>
      <p:sp>
        <p:nvSpPr>
          <p:cNvPr id="29" name="Text 27"/>
          <p:cNvSpPr/>
          <p:nvPr/>
        </p:nvSpPr>
        <p:spPr>
          <a:xfrm>
            <a:off x="4937760" y="3493008"/>
            <a:ext cx="3840480" cy="1051560"/>
          </a:xfrm>
          <a:prstGeom prst="rect">
            <a:avLst/>
          </a:prstGeom>
          <a:noFill/>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Every decision in every output file traces back to the original requirements.txt. Nothing appears without a reason, and nothing is lost between stages full audit trail throughout.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Key Takeaways From This Task</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22960"/>
            <a:ext cx="8412480" cy="9144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7" name="Shape 5"/>
          <p:cNvSpPr/>
          <p:nvPr/>
        </p:nvSpPr>
        <p:spPr>
          <a:xfrm>
            <a:off x="365760" y="822960"/>
            <a:ext cx="73152" cy="914400"/>
          </a:xfrm>
          <a:prstGeom prst="rect">
            <a:avLst/>
          </a:prstGeom>
          <a:solidFill>
            <a:srgbClr val="2563EB"/>
          </a:solidFill>
          <a:ln w="12700">
            <a:solidFill>
              <a:srgbClr val="2563EB"/>
            </a:solidFill>
            <a:prstDash val="solid"/>
          </a:ln>
        </p:spPr>
      </p:sp>
      <p:sp>
        <p:nvSpPr>
          <p:cNvPr id="8" name="Shape 6"/>
          <p:cNvSpPr/>
          <p:nvPr/>
        </p:nvSpPr>
        <p:spPr>
          <a:xfrm>
            <a:off x="502920" y="960120"/>
            <a:ext cx="457200" cy="256032"/>
          </a:xfrm>
          <a:prstGeom prst="rect">
            <a:avLst/>
          </a:prstGeom>
          <a:solidFill>
            <a:srgbClr val="2563EB"/>
          </a:solidFill>
          <a:ln w="12700">
            <a:solidFill>
              <a:srgbClr val="2563EB"/>
            </a:solidFill>
            <a:prstDash val="solid"/>
          </a:ln>
        </p:spPr>
      </p:sp>
      <p:sp>
        <p:nvSpPr>
          <p:cNvPr id="9" name="Text 7"/>
          <p:cNvSpPr/>
          <p:nvPr/>
        </p:nvSpPr>
        <p:spPr>
          <a:xfrm>
            <a:off x="502920" y="960120"/>
            <a:ext cx="457200" cy="256032"/>
          </a:xfrm>
          <a:prstGeom prst="rect">
            <a:avLst/>
          </a:prstGeom>
          <a:noFill/>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01</a:t>
            </a:r>
            <a:endParaRPr lang="en-US" sz="900" dirty="0"/>
          </a:p>
        </p:txBody>
      </p:sp>
      <p:sp>
        <p:nvSpPr>
          <p:cNvPr id="10" name="Text 8"/>
          <p:cNvSpPr/>
          <p:nvPr/>
        </p:nvSpPr>
        <p:spPr>
          <a:xfrm>
            <a:off x="1097280" y="914400"/>
            <a:ext cx="7406640" cy="256032"/>
          </a:xfrm>
          <a:prstGeom prst="rect">
            <a:avLst/>
          </a:prstGeom>
          <a:noFill/>
        </p:spPr>
        <p:txBody>
          <a:bodyPr wrap="square" lIns="0" tIns="0" rIns="0" bIns="0"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The Full SDLC Picture</a:t>
            </a:r>
            <a:endParaRPr lang="en-US" sz="1200" dirty="0"/>
          </a:p>
        </p:txBody>
      </p:sp>
      <p:sp>
        <p:nvSpPr>
          <p:cNvPr id="11" name="Text 9"/>
          <p:cNvSpPr/>
          <p:nvPr/>
        </p:nvSpPr>
        <p:spPr>
          <a:xfrm>
            <a:off x="1097280" y="1170432"/>
            <a:ext cx="7406640" cy="475488"/>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 learned how a real SDLC works end to end not just the coding part, but the complete picture from business requirements to deployment. Each role has a very specific job, and crossing those boundaries creates problems.</a:t>
            </a:r>
            <a:endParaRPr lang="en-US" sz="1000" dirty="0"/>
          </a:p>
        </p:txBody>
      </p:sp>
      <p:sp>
        <p:nvSpPr>
          <p:cNvPr id="12" name="Shape 10"/>
          <p:cNvSpPr/>
          <p:nvPr/>
        </p:nvSpPr>
        <p:spPr>
          <a:xfrm>
            <a:off x="365760" y="1874520"/>
            <a:ext cx="8412480" cy="9144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3" name="Shape 11"/>
          <p:cNvSpPr/>
          <p:nvPr/>
        </p:nvSpPr>
        <p:spPr>
          <a:xfrm>
            <a:off x="365760" y="1874520"/>
            <a:ext cx="73152" cy="914400"/>
          </a:xfrm>
          <a:prstGeom prst="rect">
            <a:avLst/>
          </a:prstGeom>
          <a:solidFill>
            <a:srgbClr val="6366F1"/>
          </a:solidFill>
          <a:ln w="12700">
            <a:solidFill>
              <a:srgbClr val="6366F1"/>
            </a:solidFill>
            <a:prstDash val="solid"/>
          </a:ln>
        </p:spPr>
      </p:sp>
      <p:sp>
        <p:nvSpPr>
          <p:cNvPr id="14" name="Shape 12"/>
          <p:cNvSpPr/>
          <p:nvPr/>
        </p:nvSpPr>
        <p:spPr>
          <a:xfrm>
            <a:off x="502920" y="2011680"/>
            <a:ext cx="457200" cy="256032"/>
          </a:xfrm>
          <a:prstGeom prst="rect">
            <a:avLst/>
          </a:prstGeom>
          <a:solidFill>
            <a:srgbClr val="6366F1"/>
          </a:solidFill>
          <a:ln w="12700">
            <a:solidFill>
              <a:srgbClr val="6366F1"/>
            </a:solidFill>
            <a:prstDash val="solid"/>
          </a:ln>
        </p:spPr>
      </p:sp>
      <p:sp>
        <p:nvSpPr>
          <p:cNvPr id="15" name="Text 13"/>
          <p:cNvSpPr/>
          <p:nvPr/>
        </p:nvSpPr>
        <p:spPr>
          <a:xfrm>
            <a:off x="502920" y="2011680"/>
            <a:ext cx="457200" cy="256032"/>
          </a:xfrm>
          <a:prstGeom prst="rect">
            <a:avLst/>
          </a:prstGeom>
          <a:noFill/>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02</a:t>
            </a:r>
            <a:endParaRPr lang="en-US" sz="900" dirty="0"/>
          </a:p>
        </p:txBody>
      </p:sp>
      <p:sp>
        <p:nvSpPr>
          <p:cNvPr id="16" name="Text 14"/>
          <p:cNvSpPr/>
          <p:nvPr/>
        </p:nvSpPr>
        <p:spPr>
          <a:xfrm>
            <a:off x="1097280" y="1965960"/>
            <a:ext cx="7406640" cy="256032"/>
          </a:xfrm>
          <a:prstGeom prst="rect">
            <a:avLst/>
          </a:prstGeom>
          <a:noFill/>
        </p:spPr>
        <p:txBody>
          <a:bodyPr wrap="square" lIns="0" tIns="0" rIns="0" bIns="0" rtlCol="0" anchor="ctr"/>
          <a:lstStyle/>
          <a:p>
            <a:pPr marL="0" indent="0">
              <a:buNone/>
            </a:pPr>
            <a:r>
              <a:rPr lang="en-US" sz="1200" b="1" dirty="0">
                <a:solidFill>
                  <a:srgbClr val="6366F1"/>
                </a:solidFill>
                <a:latin typeface="Trebuchet MS" pitchFamily="34" charset="0"/>
                <a:ea typeface="Trebuchet MS" pitchFamily="34" charset="-122"/>
                <a:cs typeface="Trebuchet MS" pitchFamily="34" charset="-120"/>
              </a:rPr>
              <a:t>Designing for Ambiguity</a:t>
            </a:r>
            <a:endParaRPr lang="en-US" sz="1200" dirty="0"/>
          </a:p>
        </p:txBody>
      </p:sp>
      <p:sp>
        <p:nvSpPr>
          <p:cNvPr id="17" name="Text 15"/>
          <p:cNvSpPr/>
          <p:nvPr/>
        </p:nvSpPr>
        <p:spPr>
          <a:xfrm>
            <a:off x="1097280" y="2221992"/>
            <a:ext cx="7406640" cy="475488"/>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Handling ambiguity was the hardest challenge. Real requirements are never perfect, so I had to build logic into each role for handling incomplete, contradictory, or missing information in a professional and traceable way.</a:t>
            </a:r>
            <a:endParaRPr lang="en-US" sz="1000" dirty="0"/>
          </a:p>
        </p:txBody>
      </p:sp>
      <p:sp>
        <p:nvSpPr>
          <p:cNvPr id="18" name="Shape 16"/>
          <p:cNvSpPr/>
          <p:nvPr/>
        </p:nvSpPr>
        <p:spPr>
          <a:xfrm>
            <a:off x="365760" y="2926080"/>
            <a:ext cx="8412480" cy="9144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19" name="Shape 17"/>
          <p:cNvSpPr/>
          <p:nvPr/>
        </p:nvSpPr>
        <p:spPr>
          <a:xfrm>
            <a:off x="365760" y="2926080"/>
            <a:ext cx="73152" cy="914400"/>
          </a:xfrm>
          <a:prstGeom prst="rect">
            <a:avLst/>
          </a:prstGeom>
          <a:solidFill>
            <a:srgbClr val="059669"/>
          </a:solidFill>
          <a:ln w="12700">
            <a:solidFill>
              <a:srgbClr val="059669"/>
            </a:solidFill>
            <a:prstDash val="solid"/>
          </a:ln>
        </p:spPr>
      </p:sp>
      <p:sp>
        <p:nvSpPr>
          <p:cNvPr id="20" name="Shape 18"/>
          <p:cNvSpPr/>
          <p:nvPr/>
        </p:nvSpPr>
        <p:spPr>
          <a:xfrm>
            <a:off x="502920" y="3063240"/>
            <a:ext cx="457200" cy="256032"/>
          </a:xfrm>
          <a:prstGeom prst="rect">
            <a:avLst/>
          </a:prstGeom>
          <a:solidFill>
            <a:srgbClr val="059669"/>
          </a:solidFill>
          <a:ln w="12700">
            <a:solidFill>
              <a:srgbClr val="059669"/>
            </a:solidFill>
            <a:prstDash val="solid"/>
          </a:ln>
        </p:spPr>
      </p:sp>
      <p:sp>
        <p:nvSpPr>
          <p:cNvPr id="21" name="Text 19"/>
          <p:cNvSpPr/>
          <p:nvPr/>
        </p:nvSpPr>
        <p:spPr>
          <a:xfrm>
            <a:off x="502920" y="3063240"/>
            <a:ext cx="457200" cy="256032"/>
          </a:xfrm>
          <a:prstGeom prst="rect">
            <a:avLst/>
          </a:prstGeom>
          <a:noFill/>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03</a:t>
            </a:r>
            <a:endParaRPr lang="en-US" sz="900" dirty="0"/>
          </a:p>
        </p:txBody>
      </p:sp>
      <p:sp>
        <p:nvSpPr>
          <p:cNvPr id="22" name="Text 20"/>
          <p:cNvSpPr/>
          <p:nvPr/>
        </p:nvSpPr>
        <p:spPr>
          <a:xfrm>
            <a:off x="1097280" y="3017520"/>
            <a:ext cx="7406640" cy="256032"/>
          </a:xfrm>
          <a:prstGeom prst="rect">
            <a:avLst/>
          </a:prstGeom>
          <a:noFill/>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Why Documentation Comes Before Code</a:t>
            </a:r>
            <a:endParaRPr lang="en-US" sz="1200" dirty="0"/>
          </a:p>
        </p:txBody>
      </p:sp>
      <p:sp>
        <p:nvSpPr>
          <p:cNvPr id="23" name="Text 21"/>
          <p:cNvSpPr/>
          <p:nvPr/>
        </p:nvSpPr>
        <p:spPr>
          <a:xfrm>
            <a:off x="1097280" y="3273552"/>
            <a:ext cx="7406640" cy="475488"/>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 understood why documentation must come before coding. When QA and DevOps documents exist before the code is written, the generated code handles edge cases and infrastructure constraints from day one.</a:t>
            </a:r>
            <a:endParaRPr lang="en-US" sz="1000" dirty="0"/>
          </a:p>
        </p:txBody>
      </p:sp>
      <p:sp>
        <p:nvSpPr>
          <p:cNvPr id="24" name="Shape 22"/>
          <p:cNvSpPr/>
          <p:nvPr/>
        </p:nvSpPr>
        <p:spPr>
          <a:xfrm>
            <a:off x="365760" y="3977640"/>
            <a:ext cx="8412480" cy="91440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25" name="Shape 23"/>
          <p:cNvSpPr/>
          <p:nvPr/>
        </p:nvSpPr>
        <p:spPr>
          <a:xfrm>
            <a:off x="365760" y="3977640"/>
            <a:ext cx="73152" cy="914400"/>
          </a:xfrm>
          <a:prstGeom prst="rect">
            <a:avLst/>
          </a:prstGeom>
          <a:solidFill>
            <a:srgbClr val="D97706"/>
          </a:solidFill>
          <a:ln w="12700">
            <a:solidFill>
              <a:srgbClr val="D97706"/>
            </a:solidFill>
            <a:prstDash val="solid"/>
          </a:ln>
        </p:spPr>
      </p:sp>
      <p:sp>
        <p:nvSpPr>
          <p:cNvPr id="26" name="Shape 24"/>
          <p:cNvSpPr/>
          <p:nvPr/>
        </p:nvSpPr>
        <p:spPr>
          <a:xfrm>
            <a:off x="502920" y="4114800"/>
            <a:ext cx="457200" cy="256032"/>
          </a:xfrm>
          <a:prstGeom prst="rect">
            <a:avLst/>
          </a:prstGeom>
          <a:solidFill>
            <a:srgbClr val="D97706"/>
          </a:solidFill>
          <a:ln w="12700">
            <a:solidFill>
              <a:srgbClr val="D97706"/>
            </a:solidFill>
            <a:prstDash val="solid"/>
          </a:ln>
        </p:spPr>
      </p:sp>
      <p:sp>
        <p:nvSpPr>
          <p:cNvPr id="27" name="Text 25"/>
          <p:cNvSpPr/>
          <p:nvPr/>
        </p:nvSpPr>
        <p:spPr>
          <a:xfrm>
            <a:off x="502920" y="4114800"/>
            <a:ext cx="457200" cy="256032"/>
          </a:xfrm>
          <a:prstGeom prst="rect">
            <a:avLst/>
          </a:prstGeom>
          <a:noFill/>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04</a:t>
            </a:r>
            <a:endParaRPr lang="en-US" sz="900" dirty="0"/>
          </a:p>
        </p:txBody>
      </p:sp>
      <p:sp>
        <p:nvSpPr>
          <p:cNvPr id="28" name="Text 26"/>
          <p:cNvSpPr/>
          <p:nvPr/>
        </p:nvSpPr>
        <p:spPr>
          <a:xfrm>
            <a:off x="1097280" y="4069080"/>
            <a:ext cx="7406640" cy="256032"/>
          </a:xfrm>
          <a:prstGeom prst="rect">
            <a:avLst/>
          </a:prstGeom>
          <a:noFill/>
        </p:spPr>
        <p:txBody>
          <a:bodyPr wrap="square" lIns="0" tIns="0" rIns="0" bIns="0" rtlCol="0" anchor="ctr"/>
          <a:lstStyle/>
          <a:p>
            <a:pPr marL="0" indent="0">
              <a:buNone/>
            </a:pPr>
            <a:r>
              <a:rPr lang="en-US" sz="1200" b="1" dirty="0">
                <a:solidFill>
                  <a:srgbClr val="D97706"/>
                </a:solidFill>
                <a:latin typeface="Trebuchet MS" pitchFamily="34" charset="0"/>
                <a:ea typeface="Trebuchet MS" pitchFamily="34" charset="-122"/>
                <a:cs typeface="Trebuchet MS" pitchFamily="34" charset="-120"/>
              </a:rPr>
              <a:t>Thinking Like a System Designer</a:t>
            </a:r>
            <a:endParaRPr lang="en-US" sz="1200" dirty="0"/>
          </a:p>
        </p:txBody>
      </p:sp>
      <p:sp>
        <p:nvSpPr>
          <p:cNvPr id="29" name="Text 27"/>
          <p:cNvSpPr/>
          <p:nvPr/>
        </p:nvSpPr>
        <p:spPr>
          <a:xfrm>
            <a:off x="1097280" y="4325112"/>
            <a:ext cx="7406640" cy="475488"/>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This task taught me to think like a system designer, not just a developer. Breaking a complex problem into small, independent, well-defined components is a skill I will apply to every future project I work 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457200" y="137160"/>
            <a:ext cx="8229600" cy="502920"/>
          </a:xfrm>
          <a:prstGeom prst="rect">
            <a:avLst/>
          </a:prstGeom>
          <a:noFill/>
        </p:spPr>
        <p:txBody>
          <a:bodyPr wrap="square" lIns="0" tIns="0" rIns="0" bIns="0" rtlCol="0" anchor="ctr"/>
          <a:lstStyle/>
          <a:p>
            <a:pPr marL="0" indent="0" algn="l">
              <a:buNone/>
            </a:pPr>
            <a:r>
              <a:rPr lang="en-US" sz="2200" b="1" dirty="0">
                <a:solidFill>
                  <a:srgbClr val="2563EB"/>
                </a:solidFill>
                <a:latin typeface="Trebuchet MS" pitchFamily="34" charset="0"/>
                <a:ea typeface="Trebuchet MS" pitchFamily="34" charset="-122"/>
                <a:cs typeface="Trebuchet MS" pitchFamily="34" charset="-120"/>
              </a:rPr>
              <a:t>What the Final System Looks Like</a:t>
            </a:r>
            <a:endParaRPr lang="en-US" sz="2200" dirty="0"/>
          </a:p>
        </p:txBody>
      </p:sp>
      <p:sp>
        <p:nvSpPr>
          <p:cNvPr id="5" name="Shape 3"/>
          <p:cNvSpPr/>
          <p:nvPr/>
        </p:nvSpPr>
        <p:spPr>
          <a:xfrm>
            <a:off x="457200" y="658368"/>
            <a:ext cx="8229600" cy="13716"/>
          </a:xfrm>
          <a:prstGeom prst="rect">
            <a:avLst/>
          </a:prstGeom>
          <a:solidFill>
            <a:srgbClr val="E2E8F0"/>
          </a:solidFill>
          <a:ln w="12700">
            <a:solidFill>
              <a:srgbClr val="E2E8F0"/>
            </a:solidFill>
            <a:prstDash val="solid"/>
          </a:ln>
        </p:spPr>
      </p:sp>
      <p:sp>
        <p:nvSpPr>
          <p:cNvPr id="6" name="Shape 4"/>
          <p:cNvSpPr/>
          <p:nvPr/>
        </p:nvSpPr>
        <p:spPr>
          <a:xfrm>
            <a:off x="365760" y="822960"/>
            <a:ext cx="3749040" cy="4023360"/>
          </a:xfrm>
          <a:prstGeom prst="rect">
            <a:avLst/>
          </a:prstGeom>
          <a:solidFill>
            <a:srgbClr val="1E293B"/>
          </a:solidFill>
          <a:ln w="12700">
            <a:solidFill>
              <a:srgbClr val="334155"/>
            </a:solidFill>
            <a:prstDash val="solid"/>
          </a:ln>
          <a:effectLst>
            <a:outerShdw blurRad="101600" dist="38100" dir="8100000" algn="bl" rotWithShape="0">
              <a:srgbClr val="000000">
                <a:alpha val="20000"/>
              </a:srgbClr>
            </a:outerShdw>
          </a:effectLst>
        </p:spPr>
      </p:sp>
      <p:sp>
        <p:nvSpPr>
          <p:cNvPr id="7" name="Shape 5"/>
          <p:cNvSpPr/>
          <p:nvPr/>
        </p:nvSpPr>
        <p:spPr>
          <a:xfrm>
            <a:off x="365760" y="822960"/>
            <a:ext cx="3749040" cy="347472"/>
          </a:xfrm>
          <a:prstGeom prst="rect">
            <a:avLst/>
          </a:prstGeom>
          <a:solidFill>
            <a:srgbClr val="334155"/>
          </a:solidFill>
          <a:ln w="12700">
            <a:solidFill>
              <a:srgbClr val="334155"/>
            </a:solidFill>
            <a:prstDash val="solid"/>
          </a:ln>
        </p:spPr>
      </p:sp>
      <p:sp>
        <p:nvSpPr>
          <p:cNvPr id="8" name="Shape 6"/>
          <p:cNvSpPr/>
          <p:nvPr/>
        </p:nvSpPr>
        <p:spPr>
          <a:xfrm>
            <a:off x="548640" y="932688"/>
            <a:ext cx="128016" cy="128016"/>
          </a:xfrm>
          <a:prstGeom prst="ellipse">
            <a:avLst/>
          </a:prstGeom>
          <a:solidFill>
            <a:srgbClr val="DC2626"/>
          </a:solidFill>
          <a:ln w="12700">
            <a:solidFill>
              <a:srgbClr val="DC2626"/>
            </a:solidFill>
            <a:prstDash val="solid"/>
          </a:ln>
        </p:spPr>
      </p:sp>
      <p:sp>
        <p:nvSpPr>
          <p:cNvPr id="9" name="Shape 7"/>
          <p:cNvSpPr/>
          <p:nvPr/>
        </p:nvSpPr>
        <p:spPr>
          <a:xfrm>
            <a:off x="777240" y="932688"/>
            <a:ext cx="128016" cy="128016"/>
          </a:xfrm>
          <a:prstGeom prst="ellipse">
            <a:avLst/>
          </a:prstGeom>
          <a:solidFill>
            <a:srgbClr val="D97706"/>
          </a:solidFill>
          <a:ln w="12700">
            <a:solidFill>
              <a:srgbClr val="D97706"/>
            </a:solidFill>
            <a:prstDash val="solid"/>
          </a:ln>
        </p:spPr>
      </p:sp>
      <p:sp>
        <p:nvSpPr>
          <p:cNvPr id="10" name="Shape 8"/>
          <p:cNvSpPr/>
          <p:nvPr/>
        </p:nvSpPr>
        <p:spPr>
          <a:xfrm>
            <a:off x="1005840" y="932688"/>
            <a:ext cx="128016" cy="128016"/>
          </a:xfrm>
          <a:prstGeom prst="ellipse">
            <a:avLst/>
          </a:prstGeom>
          <a:solidFill>
            <a:srgbClr val="059669"/>
          </a:solidFill>
          <a:ln w="12700">
            <a:solidFill>
              <a:srgbClr val="059669"/>
            </a:solidFill>
            <a:prstDash val="solid"/>
          </a:ln>
        </p:spPr>
      </p:sp>
      <p:sp>
        <p:nvSpPr>
          <p:cNvPr id="11" name="Text 9"/>
          <p:cNvSpPr/>
          <p:nvPr/>
        </p:nvSpPr>
        <p:spPr>
          <a:xfrm>
            <a:off x="1371600" y="886968"/>
            <a:ext cx="2560320" cy="201168"/>
          </a:xfrm>
          <a:prstGeom prst="rect">
            <a:avLst/>
          </a:prstGeom>
          <a:noFill/>
        </p:spPr>
        <p:txBody>
          <a:bodyPr wrap="square" lIns="0" tIns="0" rIns="0" bIns="0" rtlCol="0" anchor="ctr"/>
          <a:lstStyle/>
          <a:p>
            <a:pPr marL="0" indent="0" algn="ctr">
              <a:buNone/>
            </a:pPr>
            <a:r>
              <a:rPr lang="en-US" sz="900" dirty="0">
                <a:solidFill>
                  <a:srgbClr val="94A3B8"/>
                </a:solidFill>
                <a:latin typeface="Consolas" pitchFamily="34" charset="0"/>
                <a:ea typeface="Consolas" pitchFamily="34" charset="-122"/>
                <a:cs typeface="Consolas" pitchFamily="34" charset="-120"/>
              </a:rPr>
              <a:t>sdlc-system/</a:t>
            </a:r>
            <a:endParaRPr lang="en-US" sz="900" dirty="0"/>
          </a:p>
        </p:txBody>
      </p:sp>
      <p:sp>
        <p:nvSpPr>
          <p:cNvPr id="12" name="Text 10"/>
          <p:cNvSpPr/>
          <p:nvPr/>
        </p:nvSpPr>
        <p:spPr>
          <a:xfrm>
            <a:off x="548640" y="1280160"/>
            <a:ext cx="3383280" cy="292608"/>
          </a:xfrm>
          <a:prstGeom prst="rect">
            <a:avLst/>
          </a:prstGeom>
          <a:noFill/>
        </p:spPr>
        <p:txBody>
          <a:bodyPr wrap="square" lIns="0" tIns="0" rIns="0" bIns="0" rtlCol="0" anchor="ctr"/>
          <a:lstStyle/>
          <a:p>
            <a:pPr marL="0" indent="0">
              <a:buNone/>
            </a:pPr>
            <a:r>
              <a:rPr lang="en-US" sz="1000" b="1" dirty="0">
                <a:solidFill>
                  <a:srgbClr val="60A5FA"/>
                </a:solidFill>
                <a:latin typeface="Consolas" pitchFamily="34" charset="0"/>
                <a:ea typeface="Consolas" pitchFamily="34" charset="-122"/>
                <a:cs typeface="Consolas" pitchFamily="34" charset="-120"/>
              </a:rPr>
              <a:t>/sdlc-system</a:t>
            </a:r>
            <a:endParaRPr lang="en-US" sz="1000" dirty="0"/>
          </a:p>
        </p:txBody>
      </p:sp>
      <p:sp>
        <p:nvSpPr>
          <p:cNvPr id="13" name="Text 11"/>
          <p:cNvSpPr/>
          <p:nvPr/>
        </p:nvSpPr>
        <p:spPr>
          <a:xfrm>
            <a:off x="777240" y="1627632"/>
            <a:ext cx="3383280" cy="292608"/>
          </a:xfrm>
          <a:prstGeom prst="rect">
            <a:avLst/>
          </a:prstGeom>
          <a:noFill/>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 pm-role.md</a:t>
            </a:r>
            <a:endParaRPr lang="en-US" sz="1000" dirty="0"/>
          </a:p>
        </p:txBody>
      </p:sp>
      <p:sp>
        <p:nvSpPr>
          <p:cNvPr id="14" name="Text 12"/>
          <p:cNvSpPr/>
          <p:nvPr/>
        </p:nvSpPr>
        <p:spPr>
          <a:xfrm>
            <a:off x="777240" y="1975104"/>
            <a:ext cx="3383280" cy="292608"/>
          </a:xfrm>
          <a:prstGeom prst="rect">
            <a:avLst/>
          </a:prstGeom>
          <a:noFill/>
        </p:spPr>
        <p:txBody>
          <a:bodyPr wrap="square" lIns="0" tIns="0" rIns="0" bIns="0" rtlCol="0" anchor="ctr"/>
          <a:lstStyle/>
          <a:p>
            <a:pPr marL="0" indent="0">
              <a:buNone/>
            </a:pPr>
            <a:r>
              <a:rPr lang="en-US" sz="1000" dirty="0">
                <a:solidFill>
                  <a:srgbClr val="A5B4FC"/>
                </a:solidFill>
                <a:latin typeface="Consolas" pitchFamily="34" charset="0"/>
                <a:ea typeface="Consolas" pitchFamily="34" charset="-122"/>
                <a:cs typeface="Consolas" pitchFamily="34" charset="-120"/>
              </a:rPr>
              <a:t>├── ba-role.md</a:t>
            </a:r>
            <a:endParaRPr lang="en-US" sz="1000" dirty="0"/>
          </a:p>
        </p:txBody>
      </p:sp>
      <p:sp>
        <p:nvSpPr>
          <p:cNvPr id="15" name="Text 13"/>
          <p:cNvSpPr/>
          <p:nvPr/>
        </p:nvSpPr>
        <p:spPr>
          <a:xfrm>
            <a:off x="777240" y="2322576"/>
            <a:ext cx="3383280" cy="292608"/>
          </a:xfrm>
          <a:prstGeom prst="rect">
            <a:avLst/>
          </a:prstGeom>
          <a:noFill/>
        </p:spPr>
        <p:txBody>
          <a:bodyPr wrap="square" lIns="0" tIns="0" rIns="0" bIns="0" rtlCol="0" anchor="ctr"/>
          <a:lstStyle/>
          <a:p>
            <a:pPr marL="0" indent="0">
              <a:buNone/>
            </a:pPr>
            <a:r>
              <a:rPr lang="en-US" sz="1000" dirty="0">
                <a:solidFill>
                  <a:srgbClr val="C4B5FD"/>
                </a:solidFill>
                <a:latin typeface="Consolas" pitchFamily="34" charset="0"/>
                <a:ea typeface="Consolas" pitchFamily="34" charset="-122"/>
                <a:cs typeface="Consolas" pitchFamily="34" charset="-120"/>
              </a:rPr>
              <a:t>├── ux-role.md</a:t>
            </a:r>
            <a:endParaRPr lang="en-US" sz="1000" dirty="0"/>
          </a:p>
        </p:txBody>
      </p:sp>
      <p:sp>
        <p:nvSpPr>
          <p:cNvPr id="16" name="Text 14"/>
          <p:cNvSpPr/>
          <p:nvPr/>
        </p:nvSpPr>
        <p:spPr>
          <a:xfrm>
            <a:off x="777240" y="2670048"/>
            <a:ext cx="3383280" cy="292608"/>
          </a:xfrm>
          <a:prstGeom prst="rect">
            <a:avLst/>
          </a:prstGeom>
          <a:noFill/>
        </p:spPr>
        <p:txBody>
          <a:bodyPr wrap="square" lIns="0" tIns="0" rIns="0" bIns="0" rtlCol="0" anchor="ctr"/>
          <a:lstStyle/>
          <a:p>
            <a:pPr marL="0" indent="0">
              <a:buNone/>
            </a:pPr>
            <a:r>
              <a:rPr lang="en-US" sz="1000" dirty="0">
                <a:solidFill>
                  <a:srgbClr val="67E8F9"/>
                </a:solidFill>
                <a:latin typeface="Consolas" pitchFamily="34" charset="0"/>
                <a:ea typeface="Consolas" pitchFamily="34" charset="-122"/>
                <a:cs typeface="Consolas" pitchFamily="34" charset="-120"/>
              </a:rPr>
              <a:t>├── eng-role.md</a:t>
            </a:r>
            <a:endParaRPr lang="en-US" sz="1000" dirty="0"/>
          </a:p>
        </p:txBody>
      </p:sp>
      <p:sp>
        <p:nvSpPr>
          <p:cNvPr id="17" name="Text 15"/>
          <p:cNvSpPr/>
          <p:nvPr/>
        </p:nvSpPr>
        <p:spPr>
          <a:xfrm>
            <a:off x="777240" y="3017520"/>
            <a:ext cx="3383280" cy="292608"/>
          </a:xfrm>
          <a:prstGeom prst="rect">
            <a:avLst/>
          </a:prstGeom>
          <a:noFill/>
        </p:spPr>
        <p:txBody>
          <a:bodyPr wrap="square" lIns="0" tIns="0" rIns="0" bIns="0" rtlCol="0" anchor="ctr"/>
          <a:lstStyle/>
          <a:p>
            <a:pPr marL="0" indent="0">
              <a:buNone/>
            </a:pPr>
            <a:r>
              <a:rPr lang="en-US" sz="1000" dirty="0">
                <a:solidFill>
                  <a:srgbClr val="6EE7B7"/>
                </a:solidFill>
                <a:latin typeface="Consolas" pitchFamily="34" charset="0"/>
                <a:ea typeface="Consolas" pitchFamily="34" charset="-122"/>
                <a:cs typeface="Consolas" pitchFamily="34" charset="-120"/>
              </a:rPr>
              <a:t>├── qa-role.md</a:t>
            </a:r>
            <a:endParaRPr lang="en-US" sz="1000" dirty="0"/>
          </a:p>
        </p:txBody>
      </p:sp>
      <p:sp>
        <p:nvSpPr>
          <p:cNvPr id="18" name="Text 16"/>
          <p:cNvSpPr/>
          <p:nvPr/>
        </p:nvSpPr>
        <p:spPr>
          <a:xfrm>
            <a:off x="777240" y="3364992"/>
            <a:ext cx="3383280" cy="292608"/>
          </a:xfrm>
          <a:prstGeom prst="rect">
            <a:avLst/>
          </a:prstGeom>
          <a:noFill/>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 devops-role.md</a:t>
            </a:r>
            <a:endParaRPr lang="en-US" sz="1000" dirty="0"/>
          </a:p>
        </p:txBody>
      </p:sp>
      <p:sp>
        <p:nvSpPr>
          <p:cNvPr id="19" name="Text 17"/>
          <p:cNvSpPr/>
          <p:nvPr/>
        </p:nvSpPr>
        <p:spPr>
          <a:xfrm>
            <a:off x="777240" y="3712464"/>
            <a:ext cx="3383280" cy="292608"/>
          </a:xfrm>
          <a:prstGeom prst="rect">
            <a:avLst/>
          </a:prstGeom>
          <a:noFill/>
        </p:spPr>
        <p:txBody>
          <a:bodyPr wrap="square" lIns="0" tIns="0" rIns="0" bIns="0" rtlCol="0" anchor="ctr"/>
          <a:lstStyle/>
          <a:p>
            <a:pPr marL="0" indent="0">
              <a:buNone/>
            </a:pPr>
            <a:r>
              <a:rPr lang="en-US" sz="1000" dirty="0">
                <a:solidFill>
                  <a:srgbClr val="FCA5A5"/>
                </a:solidFill>
                <a:latin typeface="Consolas" pitchFamily="34" charset="0"/>
                <a:ea typeface="Consolas" pitchFamily="34" charset="-122"/>
                <a:cs typeface="Consolas" pitchFamily="34" charset="-120"/>
              </a:rPr>
              <a:t>├── code-gen-role.md</a:t>
            </a:r>
            <a:endParaRPr lang="en-US" sz="1000" dirty="0"/>
          </a:p>
        </p:txBody>
      </p:sp>
      <p:sp>
        <p:nvSpPr>
          <p:cNvPr id="20" name="Text 18"/>
          <p:cNvSpPr/>
          <p:nvPr/>
        </p:nvSpPr>
        <p:spPr>
          <a:xfrm>
            <a:off x="777240" y="4059936"/>
            <a:ext cx="3383280" cy="292608"/>
          </a:xfrm>
          <a:prstGeom prst="rect">
            <a:avLst/>
          </a:prstGeom>
          <a:noFill/>
        </p:spPr>
        <p:txBody>
          <a:bodyPr wrap="square" lIns="0" tIns="0" rIns="0" bIns="0" rtlCol="0" anchor="ctr"/>
          <a:lstStyle/>
          <a:p>
            <a:pPr marL="0" indent="0">
              <a:buNone/>
            </a:pPr>
            <a:r>
              <a:rPr lang="en-US" sz="1000" dirty="0">
                <a:solidFill>
                  <a:srgbClr val="94A3B8"/>
                </a:solidFill>
                <a:latin typeface="Consolas" pitchFamily="34" charset="0"/>
                <a:ea typeface="Consolas" pitchFamily="34" charset="-122"/>
                <a:cs typeface="Consolas" pitchFamily="34" charset="-120"/>
              </a:rPr>
              <a:t>└── WORKFLOW.md</a:t>
            </a:r>
            <a:endParaRPr lang="en-US" sz="1000" dirty="0"/>
          </a:p>
        </p:txBody>
      </p:sp>
      <p:sp>
        <p:nvSpPr>
          <p:cNvPr id="21" name="Shape 19"/>
          <p:cNvSpPr/>
          <p:nvPr/>
        </p:nvSpPr>
        <p:spPr>
          <a:xfrm>
            <a:off x="4389120" y="822960"/>
            <a:ext cx="4389120" cy="118872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22" name="Shape 20"/>
          <p:cNvSpPr/>
          <p:nvPr/>
        </p:nvSpPr>
        <p:spPr>
          <a:xfrm>
            <a:off x="4389120" y="822960"/>
            <a:ext cx="64008" cy="1188720"/>
          </a:xfrm>
          <a:prstGeom prst="rect">
            <a:avLst/>
          </a:prstGeom>
          <a:solidFill>
            <a:srgbClr val="2563EB"/>
          </a:solidFill>
          <a:ln w="12700">
            <a:solidFill>
              <a:srgbClr val="2563EB"/>
            </a:solidFill>
            <a:prstDash val="solid"/>
          </a:ln>
        </p:spPr>
      </p:sp>
      <p:sp>
        <p:nvSpPr>
          <p:cNvPr id="23" name="Text 21"/>
          <p:cNvSpPr/>
          <p:nvPr/>
        </p:nvSpPr>
        <p:spPr>
          <a:xfrm>
            <a:off x="4617720" y="932688"/>
            <a:ext cx="3977640" cy="274320"/>
          </a:xfrm>
          <a:prstGeom prst="rect">
            <a:avLst/>
          </a:prstGeom>
          <a:noFill/>
        </p:spPr>
        <p:txBody>
          <a:bodyPr wrap="square" lIns="0" tIns="0" rIns="0" bIns="0" rtlCol="0" anchor="ctr"/>
          <a:lstStyle/>
          <a:p>
            <a:pPr marL="0" indent="0">
              <a:buNone/>
            </a:pPr>
            <a:r>
              <a:rPr lang="en-US" sz="1200" b="1" dirty="0">
                <a:solidFill>
                  <a:srgbClr val="2563EB"/>
                </a:solidFill>
                <a:latin typeface="Trebuchet MS" pitchFamily="34" charset="0"/>
                <a:ea typeface="Trebuchet MS" pitchFamily="34" charset="-122"/>
                <a:cs typeface="Trebuchet MS" pitchFamily="34" charset="-120"/>
              </a:rPr>
              <a:t>7 Independent Role Files</a:t>
            </a:r>
            <a:endParaRPr lang="en-US" sz="1200" dirty="0"/>
          </a:p>
        </p:txBody>
      </p:sp>
      <p:sp>
        <p:nvSpPr>
          <p:cNvPr id="24" name="Text 22"/>
          <p:cNvSpPr/>
          <p:nvPr/>
        </p:nvSpPr>
        <p:spPr>
          <a:xfrm>
            <a:off x="4617720" y="1225296"/>
            <a:ext cx="3977640" cy="68580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Each file works as a standalone AI prompt for any project in any domain. Drop in a requirements.txt and the system handles all planning and code generation from that single file.</a:t>
            </a:r>
            <a:endParaRPr lang="en-US" sz="1000" dirty="0"/>
          </a:p>
        </p:txBody>
      </p:sp>
      <p:sp>
        <p:nvSpPr>
          <p:cNvPr id="25" name="Shape 23"/>
          <p:cNvSpPr/>
          <p:nvPr/>
        </p:nvSpPr>
        <p:spPr>
          <a:xfrm>
            <a:off x="4389120" y="2148840"/>
            <a:ext cx="4389120" cy="118872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26" name="Shape 24"/>
          <p:cNvSpPr/>
          <p:nvPr/>
        </p:nvSpPr>
        <p:spPr>
          <a:xfrm>
            <a:off x="4389120" y="2148840"/>
            <a:ext cx="64008" cy="1188720"/>
          </a:xfrm>
          <a:prstGeom prst="rect">
            <a:avLst/>
          </a:prstGeom>
          <a:solidFill>
            <a:srgbClr val="6366F1"/>
          </a:solidFill>
          <a:ln w="12700">
            <a:solidFill>
              <a:srgbClr val="6366F1"/>
            </a:solidFill>
            <a:prstDash val="solid"/>
          </a:ln>
        </p:spPr>
      </p:sp>
      <p:sp>
        <p:nvSpPr>
          <p:cNvPr id="27" name="Text 25"/>
          <p:cNvSpPr/>
          <p:nvPr/>
        </p:nvSpPr>
        <p:spPr>
          <a:xfrm>
            <a:off x="4617720" y="2258568"/>
            <a:ext cx="3977640" cy="274320"/>
          </a:xfrm>
          <a:prstGeom prst="rect">
            <a:avLst/>
          </a:prstGeom>
          <a:noFill/>
        </p:spPr>
        <p:txBody>
          <a:bodyPr wrap="square" lIns="0" tIns="0" rIns="0" bIns="0" rtlCol="0" anchor="ctr"/>
          <a:lstStyle/>
          <a:p>
            <a:pPr marL="0" indent="0">
              <a:buNone/>
            </a:pPr>
            <a:r>
              <a:rPr lang="en-US" sz="1200" b="1" dirty="0">
                <a:solidFill>
                  <a:srgbClr val="6366F1"/>
                </a:solidFill>
                <a:latin typeface="Trebuchet MS" pitchFamily="34" charset="0"/>
                <a:ea typeface="Trebuchet MS" pitchFamily="34" charset="-122"/>
                <a:cs typeface="Trebuchet MS" pitchFamily="34" charset="-120"/>
              </a:rPr>
              <a:t>1 Master WORKFLOW.md File</a:t>
            </a:r>
            <a:endParaRPr lang="en-US" sz="1200" dirty="0"/>
          </a:p>
        </p:txBody>
      </p:sp>
      <p:sp>
        <p:nvSpPr>
          <p:cNvPr id="28" name="Text 26"/>
          <p:cNvSpPr/>
          <p:nvPr/>
        </p:nvSpPr>
        <p:spPr>
          <a:xfrm>
            <a:off x="4617720" y="2551176"/>
            <a:ext cx="3977640" cy="68580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Documents the complete pipeline, both operating modes (Full Stack and Backend Only), and step-by-step execution instructions for anyone picking this up for the first time.</a:t>
            </a:r>
            <a:endParaRPr lang="en-US" sz="1000" dirty="0"/>
          </a:p>
        </p:txBody>
      </p:sp>
      <p:sp>
        <p:nvSpPr>
          <p:cNvPr id="29" name="Shape 27"/>
          <p:cNvSpPr/>
          <p:nvPr/>
        </p:nvSpPr>
        <p:spPr>
          <a:xfrm>
            <a:off x="4389120" y="3474720"/>
            <a:ext cx="4389120" cy="1188720"/>
          </a:xfrm>
          <a:prstGeom prst="rect">
            <a:avLst/>
          </a:prstGeom>
          <a:solidFill>
            <a:srgbClr val="FFFFFF"/>
          </a:solidFill>
          <a:ln w="12700">
            <a:solidFill>
              <a:srgbClr val="E2E8F0"/>
            </a:solidFill>
            <a:prstDash val="solid"/>
          </a:ln>
          <a:effectLst>
            <a:outerShdw blurRad="50800" dist="25400" dir="8100000" algn="bl" rotWithShape="0">
              <a:srgbClr val="000000">
                <a:alpha val="7000"/>
              </a:srgbClr>
            </a:outerShdw>
          </a:effectLst>
        </p:spPr>
      </p:sp>
      <p:sp>
        <p:nvSpPr>
          <p:cNvPr id="30" name="Shape 28"/>
          <p:cNvSpPr/>
          <p:nvPr/>
        </p:nvSpPr>
        <p:spPr>
          <a:xfrm>
            <a:off x="4389120" y="3474720"/>
            <a:ext cx="64008" cy="1188720"/>
          </a:xfrm>
          <a:prstGeom prst="rect">
            <a:avLst/>
          </a:prstGeom>
          <a:solidFill>
            <a:srgbClr val="059669"/>
          </a:solidFill>
          <a:ln w="12700">
            <a:solidFill>
              <a:srgbClr val="059669"/>
            </a:solidFill>
            <a:prstDash val="solid"/>
          </a:ln>
        </p:spPr>
      </p:sp>
      <p:sp>
        <p:nvSpPr>
          <p:cNvPr id="31" name="Text 29"/>
          <p:cNvSpPr/>
          <p:nvPr/>
        </p:nvSpPr>
        <p:spPr>
          <a:xfrm>
            <a:off x="4617720" y="3584448"/>
            <a:ext cx="3977640" cy="274320"/>
          </a:xfrm>
          <a:prstGeom prst="rect">
            <a:avLst/>
          </a:prstGeom>
          <a:noFill/>
        </p:spPr>
        <p:txBody>
          <a:bodyPr wrap="square" lIns="0" tIns="0" rIns="0" bIns="0" rtlCol="0" anchor="ctr"/>
          <a:lstStyle/>
          <a:p>
            <a:pPr marL="0" indent="0">
              <a:buNone/>
            </a:pPr>
            <a:r>
              <a:rPr lang="en-US" sz="1200" b="1" dirty="0">
                <a:solidFill>
                  <a:srgbClr val="059669"/>
                </a:solidFill>
                <a:latin typeface="Trebuchet MS" pitchFamily="34" charset="0"/>
                <a:ea typeface="Trebuchet MS" pitchFamily="34" charset="-122"/>
                <a:cs typeface="Trebuchet MS" pitchFamily="34" charset="-120"/>
              </a:rPr>
              <a:t>Zero Dependencies</a:t>
            </a:r>
            <a:endParaRPr lang="en-US" sz="1200" dirty="0"/>
          </a:p>
        </p:txBody>
      </p:sp>
      <p:sp>
        <p:nvSpPr>
          <p:cNvPr id="32" name="Text 30"/>
          <p:cNvSpPr/>
          <p:nvPr/>
        </p:nvSpPr>
        <p:spPr>
          <a:xfrm>
            <a:off x="4617720" y="3877056"/>
            <a:ext cx="3977640" cy="68580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The total system is minimal just markdown files. No installation required, no complex setup, no frameworks. Any developer or team can start using it immediately.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w="12700">
            <a:solidFill>
              <a:srgbClr val="2563EB"/>
            </a:solidFill>
            <a:prstDash val="solid"/>
          </a:ln>
        </p:spPr>
      </p:sp>
      <p:sp>
        <p:nvSpPr>
          <p:cNvPr id="3" name="Text 1"/>
          <p:cNvSpPr/>
          <p:nvPr/>
        </p:nvSpPr>
        <p:spPr>
          <a:xfrm>
            <a:off x="457200" y="320040"/>
            <a:ext cx="8229600" cy="640080"/>
          </a:xfrm>
          <a:prstGeom prst="rect">
            <a:avLst/>
          </a:prstGeom>
          <a:noFill/>
        </p:spPr>
        <p:txBody>
          <a:bodyPr wrap="square" lIns="0" tIns="0" rIns="0" bIns="0" rtlCol="0" anchor="ctr"/>
          <a:lstStyle/>
          <a:p>
            <a:pPr marL="0" indent="0" algn="ctr">
              <a:buNone/>
            </a:pPr>
            <a:r>
              <a:rPr lang="en-US" sz="3600" b="1" dirty="0">
                <a:solidFill>
                  <a:srgbClr val="FFFFFF"/>
                </a:solidFill>
                <a:latin typeface="Trebuchet MS" pitchFamily="34" charset="0"/>
                <a:ea typeface="Trebuchet MS" pitchFamily="34" charset="-122"/>
                <a:cs typeface="Trebuchet MS" pitchFamily="34" charset="-120"/>
              </a:rPr>
              <a:t>Thank You</a:t>
            </a:r>
            <a:endParaRPr lang="en-US" sz="3600" dirty="0"/>
          </a:p>
        </p:txBody>
      </p:sp>
      <p:sp>
        <p:nvSpPr>
          <p:cNvPr id="4" name="Text 2"/>
          <p:cNvSpPr/>
          <p:nvPr/>
        </p:nvSpPr>
        <p:spPr>
          <a:xfrm>
            <a:off x="457200" y="868680"/>
            <a:ext cx="8229600" cy="365760"/>
          </a:xfrm>
          <a:prstGeom prst="rect">
            <a:avLst/>
          </a:prstGeom>
          <a:noFill/>
        </p:spPr>
        <p:txBody>
          <a:bodyPr wrap="square" lIns="0" tIns="0" rIns="0" bIns="0" rtlCol="0" anchor="ctr"/>
          <a:lstStyle/>
          <a:p>
            <a:pPr marL="0" indent="0" algn="ctr">
              <a:buNone/>
            </a:pPr>
            <a:r>
              <a:rPr lang="en-US" sz="1800" dirty="0">
                <a:solidFill>
                  <a:srgbClr val="94A3B8"/>
                </a:solidFill>
                <a:latin typeface="Calibri" pitchFamily="34" charset="0"/>
                <a:ea typeface="Calibri" pitchFamily="34" charset="-122"/>
                <a:cs typeface="Calibri" pitchFamily="34" charset="-120"/>
              </a:rPr>
              <a:t>for your time</a:t>
            </a:r>
            <a:endParaRPr lang="en-US" sz="1800" dirty="0"/>
          </a:p>
        </p:txBody>
      </p:sp>
      <p:sp>
        <p:nvSpPr>
          <p:cNvPr id="5" name="Shape 3"/>
          <p:cNvSpPr/>
          <p:nvPr/>
        </p:nvSpPr>
        <p:spPr>
          <a:xfrm>
            <a:off x="1097280" y="1417320"/>
            <a:ext cx="6949440" cy="640080"/>
          </a:xfrm>
          <a:prstGeom prst="rect">
            <a:avLst/>
          </a:prstGeom>
          <a:solidFill>
            <a:srgbClr val="2563EB"/>
          </a:solidFill>
          <a:ln w="12700">
            <a:solidFill>
              <a:srgbClr val="2563EB"/>
            </a:solidFill>
            <a:prstDash val="solid"/>
          </a:ln>
        </p:spPr>
      </p:sp>
      <p:sp>
        <p:nvSpPr>
          <p:cNvPr id="6" name="Text 4"/>
          <p:cNvSpPr/>
          <p:nvPr/>
        </p:nvSpPr>
        <p:spPr>
          <a:xfrm>
            <a:off x="1188720" y="1444752"/>
            <a:ext cx="6766560" cy="585216"/>
          </a:xfrm>
          <a:prstGeom prst="rect">
            <a:avLst/>
          </a:prstGeom>
          <a:noFill/>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"A complete, reusable, AI-driven SDLC system — from requirements.txt to production-ready code."</a:t>
            </a:r>
            <a:endParaRPr lang="en-US" sz="1100" dirty="0"/>
          </a:p>
        </p:txBody>
      </p:sp>
      <p:sp>
        <p:nvSpPr>
          <p:cNvPr id="7" name="Text 5"/>
          <p:cNvSpPr/>
          <p:nvPr/>
        </p:nvSpPr>
        <p:spPr>
          <a:xfrm>
            <a:off x="1828800" y="2240280"/>
            <a:ext cx="5486400" cy="292608"/>
          </a:xfrm>
          <a:prstGeom prst="rect">
            <a:avLst/>
          </a:prstGeom>
          <a:noFill/>
        </p:spPr>
        <p:txBody>
          <a:bodyPr wrap="square" lIns="0" tIns="0" rIns="0" bIns="0" rtlCol="0" anchor="ctr"/>
          <a:lstStyle/>
          <a:p>
            <a:pPr marL="0" indent="0" algn="ctr">
              <a:buNone/>
            </a:pPr>
            <a:r>
              <a:rPr lang="en-US" sz="1300" b="1" dirty="0">
                <a:solidFill>
                  <a:srgbClr val="60A5FA"/>
                </a:solidFill>
                <a:latin typeface="Trebuchet MS" pitchFamily="34" charset="0"/>
                <a:ea typeface="Trebuchet MS" pitchFamily="34" charset="-122"/>
                <a:cs typeface="Trebuchet MS" pitchFamily="34" charset="-120"/>
              </a:rPr>
              <a:t>What I Delivered:</a:t>
            </a:r>
            <a:endParaRPr lang="en-US" sz="1300" dirty="0"/>
          </a:p>
        </p:txBody>
      </p:sp>
      <p:sp>
        <p:nvSpPr>
          <p:cNvPr id="8" name="Shape 6"/>
          <p:cNvSpPr/>
          <p:nvPr/>
        </p:nvSpPr>
        <p:spPr>
          <a:xfrm>
            <a:off x="1371600" y="2606040"/>
            <a:ext cx="256032" cy="256032"/>
          </a:xfrm>
          <a:prstGeom prst="rect">
            <a:avLst/>
          </a:prstGeom>
          <a:solidFill>
            <a:srgbClr val="059669"/>
          </a:solidFill>
          <a:ln w="12700">
            <a:solidFill>
              <a:srgbClr val="059669"/>
            </a:solidFill>
            <a:prstDash val="solid"/>
          </a:ln>
        </p:spPr>
      </p:sp>
      <p:sp>
        <p:nvSpPr>
          <p:cNvPr id="9" name="Text 7"/>
          <p:cNvSpPr/>
          <p:nvPr/>
        </p:nvSpPr>
        <p:spPr>
          <a:xfrm>
            <a:off x="1371600" y="2606040"/>
            <a:ext cx="256032"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1737360" y="2624328"/>
            <a:ext cx="5943600" cy="237744"/>
          </a:xfrm>
          <a:prstGeom prst="rect">
            <a:avLst/>
          </a:prstGeom>
          <a:noFill/>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7 structured role definition files covering the complete SDLC</a:t>
            </a:r>
            <a:endParaRPr lang="en-US" sz="1100" dirty="0"/>
          </a:p>
        </p:txBody>
      </p:sp>
      <p:sp>
        <p:nvSpPr>
          <p:cNvPr id="11" name="Shape 9"/>
          <p:cNvSpPr/>
          <p:nvPr/>
        </p:nvSpPr>
        <p:spPr>
          <a:xfrm>
            <a:off x="1371600" y="2953512"/>
            <a:ext cx="256032" cy="256032"/>
          </a:xfrm>
          <a:prstGeom prst="rect">
            <a:avLst/>
          </a:prstGeom>
          <a:solidFill>
            <a:srgbClr val="059669"/>
          </a:solidFill>
          <a:ln w="12700">
            <a:solidFill>
              <a:srgbClr val="059669"/>
            </a:solidFill>
            <a:prstDash val="solid"/>
          </a:ln>
        </p:spPr>
      </p:sp>
      <p:sp>
        <p:nvSpPr>
          <p:cNvPr id="12" name="Text 10"/>
          <p:cNvSpPr/>
          <p:nvPr/>
        </p:nvSpPr>
        <p:spPr>
          <a:xfrm>
            <a:off x="1371600" y="2953512"/>
            <a:ext cx="256032"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1737360" y="2971800"/>
            <a:ext cx="5943600" cy="237744"/>
          </a:xfrm>
          <a:prstGeom prst="rect">
            <a:avLst/>
          </a:prstGeom>
          <a:noFill/>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Works for any project — frontend, backend, or both modes</a:t>
            </a:r>
            <a:endParaRPr lang="en-US" sz="1100" dirty="0"/>
          </a:p>
        </p:txBody>
      </p:sp>
      <p:sp>
        <p:nvSpPr>
          <p:cNvPr id="14" name="Shape 12"/>
          <p:cNvSpPr/>
          <p:nvPr/>
        </p:nvSpPr>
        <p:spPr>
          <a:xfrm>
            <a:off x="1371600" y="3300984"/>
            <a:ext cx="256032" cy="256032"/>
          </a:xfrm>
          <a:prstGeom prst="rect">
            <a:avLst/>
          </a:prstGeom>
          <a:solidFill>
            <a:srgbClr val="059669"/>
          </a:solidFill>
          <a:ln w="12700">
            <a:solidFill>
              <a:srgbClr val="059669"/>
            </a:solidFill>
            <a:prstDash val="solid"/>
          </a:ln>
        </p:spPr>
      </p:sp>
      <p:sp>
        <p:nvSpPr>
          <p:cNvPr id="15" name="Text 13"/>
          <p:cNvSpPr/>
          <p:nvPr/>
        </p:nvSpPr>
        <p:spPr>
          <a:xfrm>
            <a:off x="1371600" y="3300984"/>
            <a:ext cx="256032"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1737360" y="3319272"/>
            <a:ext cx="5943600" cy="237744"/>
          </a:xfrm>
          <a:prstGeom prst="rect">
            <a:avLst/>
          </a:prstGeom>
          <a:noFill/>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Fully automated pipeline with one optional pause</a:t>
            </a:r>
            <a:endParaRPr lang="en-US" sz="1100" dirty="0"/>
          </a:p>
        </p:txBody>
      </p:sp>
      <p:sp>
        <p:nvSpPr>
          <p:cNvPr id="17" name="Shape 15"/>
          <p:cNvSpPr/>
          <p:nvPr/>
        </p:nvSpPr>
        <p:spPr>
          <a:xfrm>
            <a:off x="1371600" y="3648456"/>
            <a:ext cx="256032" cy="256032"/>
          </a:xfrm>
          <a:prstGeom prst="rect">
            <a:avLst/>
          </a:prstGeom>
          <a:solidFill>
            <a:srgbClr val="059669"/>
          </a:solidFill>
          <a:ln w="12700">
            <a:solidFill>
              <a:srgbClr val="059669"/>
            </a:solidFill>
            <a:prstDash val="solid"/>
          </a:ln>
        </p:spPr>
      </p:sp>
      <p:sp>
        <p:nvSpPr>
          <p:cNvPr id="18" name="Text 16"/>
          <p:cNvSpPr/>
          <p:nvPr/>
        </p:nvSpPr>
        <p:spPr>
          <a:xfrm>
            <a:off x="1371600" y="3648456"/>
            <a:ext cx="256032"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1737360" y="3666744"/>
            <a:ext cx="5943600" cy="237744"/>
          </a:xfrm>
          <a:prstGeom prst="rect">
            <a:avLst/>
          </a:prstGeom>
          <a:noFill/>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Every decision logged and traceable to requirements</a:t>
            </a:r>
            <a:endParaRPr lang="en-US" sz="1100" dirty="0"/>
          </a:p>
        </p:txBody>
      </p:sp>
      <p:sp>
        <p:nvSpPr>
          <p:cNvPr id="20" name="Shape 18"/>
          <p:cNvSpPr/>
          <p:nvPr/>
        </p:nvSpPr>
        <p:spPr>
          <a:xfrm>
            <a:off x="1371600" y="3995928"/>
            <a:ext cx="256032" cy="256032"/>
          </a:xfrm>
          <a:prstGeom prst="rect">
            <a:avLst/>
          </a:prstGeom>
          <a:solidFill>
            <a:srgbClr val="059669"/>
          </a:solidFill>
          <a:ln w="12700">
            <a:solidFill>
              <a:srgbClr val="059669"/>
            </a:solidFill>
            <a:prstDash val="solid"/>
          </a:ln>
        </p:spPr>
      </p:sp>
      <p:sp>
        <p:nvSpPr>
          <p:cNvPr id="21" name="Text 19"/>
          <p:cNvSpPr/>
          <p:nvPr/>
        </p:nvSpPr>
        <p:spPr>
          <a:xfrm>
            <a:off x="1371600" y="3995928"/>
            <a:ext cx="256032"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1737360" y="4014216"/>
            <a:ext cx="5943600" cy="237744"/>
          </a:xfrm>
          <a:prstGeom prst="rect">
            <a:avLst/>
          </a:prstGeom>
          <a:noFill/>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Code generated only after all planning documents are complete</a:t>
            </a:r>
            <a:endParaRPr lang="en-US" sz="1100" dirty="0"/>
          </a:p>
        </p:txBody>
      </p:sp>
      <p:sp>
        <p:nvSpPr>
          <p:cNvPr id="23" name="Shape 21"/>
          <p:cNvSpPr/>
          <p:nvPr/>
        </p:nvSpPr>
        <p:spPr>
          <a:xfrm>
            <a:off x="457200" y="4663440"/>
            <a:ext cx="8229600" cy="13716"/>
          </a:xfrm>
          <a:prstGeom prst="rect">
            <a:avLst/>
          </a:prstGeom>
          <a:solidFill>
            <a:srgbClr val="334155"/>
          </a:solidFill>
          <a:ln w="12700">
            <a:solidFill>
              <a:srgbClr val="334155"/>
            </a:solidFill>
            <a:prstDash val="solid"/>
          </a:ln>
        </p:spPr>
      </p:sp>
      <p:sp>
        <p:nvSpPr>
          <p:cNvPr id="24" name="Text 22"/>
          <p:cNvSpPr/>
          <p:nvPr/>
        </p:nvSpPr>
        <p:spPr>
          <a:xfrm>
            <a:off x="457200" y="4754880"/>
            <a:ext cx="8229600" cy="228600"/>
          </a:xfrm>
          <a:prstGeom prst="rect">
            <a:avLst/>
          </a:prstGeom>
          <a:noFill/>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Open to feedback, questions, and suggestions from my mentor.</a:t>
            </a:r>
            <a:endParaRPr lang="en-US" sz="1000" dirty="0"/>
          </a:p>
        </p:txBody>
      </p:sp>
      <p:sp>
        <p:nvSpPr>
          <p:cNvPr id="25" name="Text 23"/>
          <p:cNvSpPr/>
          <p:nvPr/>
        </p:nvSpPr>
        <p:spPr>
          <a:xfrm>
            <a:off x="8412480" y="4800600"/>
            <a:ext cx="457200" cy="228600"/>
          </a:xfrm>
          <a:prstGeom prst="rect">
            <a:avLst/>
          </a:prstGeom>
          <a:noFill/>
        </p:spPr>
        <p:txBody>
          <a:bodyPr wrap="square" lIns="0" tIns="0" rIns="0" bIns="0"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7993</Words>
  <Application>WPS Presentation</Application>
  <PresentationFormat>On-screen Show (16:9)</PresentationFormat>
  <Paragraphs>399</Paragraphs>
  <Slides>11</Slides>
  <Notes>11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11</vt:i4>
      </vt:variant>
    </vt:vector>
  </HeadingPairs>
  <TitlesOfParts>
    <vt:vector size="30" baseType="lpstr">
      <vt:lpstr>Arial</vt:lpstr>
      <vt:lpstr>SimSun</vt:lpstr>
      <vt:lpstr>Wingdings</vt:lpstr>
      <vt:lpstr>DejaVu Sans</vt:lpstr>
      <vt:lpstr>Trebuchet MS</vt:lpstr>
      <vt:lpstr>Trebuchet MS</vt:lpstr>
      <vt:lpstr>Trebuchet MS</vt:lpstr>
      <vt:lpstr>Calibri</vt:lpstr>
      <vt:lpstr>Calibri</vt:lpstr>
      <vt:lpstr>Calibri</vt:lpstr>
      <vt:lpstr>Microsoft YaHei</vt:lpstr>
      <vt:lpstr>Droid Sans Fallback</vt:lpstr>
      <vt:lpstr>Arial Unicode MS</vt:lpstr>
      <vt:lpstr>Consolas</vt:lpstr>
      <vt:lpstr>Consolas</vt:lpstr>
      <vt:lpstr>Consolas</vt:lpstr>
      <vt:lpstr>Noto Sans Symbols2</vt:lpstr>
      <vt:lpstr>C059</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SDLC Workflow System</dc:title>
  <dc:creator>PptxGenJS</dc:creator>
  <dc:subject>PptxGenJS Presentation</dc:subject>
  <cp:lastModifiedBy>ioanyt</cp:lastModifiedBy>
  <cp:revision>3</cp:revision>
  <dcterms:created xsi:type="dcterms:W3CDTF">2026-04-27T07:25:39Z</dcterms:created>
  <dcterms:modified xsi:type="dcterms:W3CDTF">2026-04-27T07:25:39Z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